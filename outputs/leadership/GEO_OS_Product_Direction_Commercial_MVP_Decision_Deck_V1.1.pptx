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4b0e3af82f4112" /><Relationship Type="http://schemas.openxmlformats.org/officeDocument/2006/relationships/extended-properties" Target="/docProps/app.xml" Id="R80bb2be8e08541d4" /><Relationship Type="http://schemas.openxmlformats.org/officeDocument/2006/relationships/officeDocument" Target="/ppt/presentation.xml" Id="R433171b780aa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f2c84a8044c78"/>
  </p:sldMasterIdLst>
  <p:notesMasterIdLst>
    <p:notesMasterId xmlns:r="http://schemas.openxmlformats.org/officeDocument/2006/relationships" r:id="R291bb832b6f24440"/>
  </p:notesMasterIdLst>
  <p:sldIdLst>
    <p:sldId xmlns:r="http://schemas.openxmlformats.org/officeDocument/2006/relationships" id="256" r:id="Rc1c00ea94ab8418a"/>
    <p:sldId xmlns:r="http://schemas.openxmlformats.org/officeDocument/2006/relationships" id="257" r:id="R86bf25e2dddd41be"/>
    <p:sldId xmlns:r="http://schemas.openxmlformats.org/officeDocument/2006/relationships" id="258" r:id="Rc0f4c4fc598a4fa2"/>
    <p:sldId xmlns:r="http://schemas.openxmlformats.org/officeDocument/2006/relationships" id="259" r:id="Ra98ddaa6919845da"/>
    <p:sldId xmlns:r="http://schemas.openxmlformats.org/officeDocument/2006/relationships" id="260" r:id="R6b38ccb869034703"/>
    <p:sldId xmlns:r="http://schemas.openxmlformats.org/officeDocument/2006/relationships" id="261" r:id="Rcddda4c47e6c4f3c"/>
    <p:sldId xmlns:r="http://schemas.openxmlformats.org/officeDocument/2006/relationships" id="262" r:id="R49158fe19dbc4cc0"/>
    <p:sldId xmlns:r="http://schemas.openxmlformats.org/officeDocument/2006/relationships" id="263" r:id="R29f02f20afca497c"/>
    <p:sldId xmlns:r="http://schemas.openxmlformats.org/officeDocument/2006/relationships" id="264" r:id="R6c27774d3ba1489e"/>
    <p:sldId xmlns:r="http://schemas.openxmlformats.org/officeDocument/2006/relationships" id="265" r:id="R2cb3bc97bd254515"/>
    <p:sldId xmlns:r="http://schemas.openxmlformats.org/officeDocument/2006/relationships" id="266" r:id="R27776687ed914418"/>
    <p:sldId xmlns:r="http://schemas.openxmlformats.org/officeDocument/2006/relationships" id="267" r:id="R3d148333e9c5412d"/>
    <p:sldId xmlns:r="http://schemas.openxmlformats.org/officeDocument/2006/relationships" id="268" r:id="R7e670e7609c94b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c801aaf2a24362" /><Relationship Type="http://schemas.openxmlformats.org/officeDocument/2006/relationships/slideMaster" Target="/ppt/slideMasters/slideMaster1.xml" Id="R9fef2c84a8044c78" /><Relationship Type="http://schemas.openxmlformats.org/officeDocument/2006/relationships/notesMaster" Target="/ppt/notesMasters/notesMaster1.xml" Id="R291bb832b6f24440" /><Relationship Type="http://schemas.openxmlformats.org/officeDocument/2006/relationships/presProps" Target="/ppt/presProps.xml" Id="R176474ece7434609" /><Relationship Type="http://schemas.openxmlformats.org/officeDocument/2006/relationships/tableStyles" Target="/ppt/tableStyles.xml" Id="Ra0e8a96290884adf" /><Relationship Type="http://schemas.openxmlformats.org/officeDocument/2006/relationships/slide" Target="/ppt/slides/slide1.xml" Id="Rc1c00ea94ab8418a" /><Relationship Type="http://schemas.openxmlformats.org/officeDocument/2006/relationships/slide" Target="/ppt/slides/slide2.xml" Id="R86bf25e2dddd41be" /><Relationship Type="http://schemas.openxmlformats.org/officeDocument/2006/relationships/slide" Target="/ppt/slides/slide3.xml" Id="Rc0f4c4fc598a4fa2" /><Relationship Type="http://schemas.openxmlformats.org/officeDocument/2006/relationships/slide" Target="/ppt/slides/slide4.xml" Id="Ra98ddaa6919845da" /><Relationship Type="http://schemas.openxmlformats.org/officeDocument/2006/relationships/slide" Target="/ppt/slides/slide5.xml" Id="R6b38ccb869034703" /><Relationship Type="http://schemas.openxmlformats.org/officeDocument/2006/relationships/slide" Target="/ppt/slides/slide6.xml" Id="Rcddda4c47e6c4f3c" /><Relationship Type="http://schemas.openxmlformats.org/officeDocument/2006/relationships/slide" Target="/ppt/slides/slide7.xml" Id="R49158fe19dbc4cc0" /><Relationship Type="http://schemas.openxmlformats.org/officeDocument/2006/relationships/slide" Target="/ppt/slides/slide8.xml" Id="R29f02f20afca497c" /><Relationship Type="http://schemas.openxmlformats.org/officeDocument/2006/relationships/slide" Target="/ppt/slides/slide9.xml" Id="R6c27774d3ba1489e" /><Relationship Type="http://schemas.openxmlformats.org/officeDocument/2006/relationships/slide" Target="/ppt/slides/slide10.xml" Id="R2cb3bc97bd254515" /><Relationship Type="http://schemas.openxmlformats.org/officeDocument/2006/relationships/slide" Target="/ppt/slides/slide11.xml" Id="R27776687ed914418" /><Relationship Type="http://schemas.openxmlformats.org/officeDocument/2006/relationships/slide" Target="/ppt/slides/slide12.xml" Id="R3d148333e9c5412d" /><Relationship Type="http://schemas.openxmlformats.org/officeDocument/2006/relationships/slide" Target="/ppt/slides/slide13.xml" Id="R7e670e7609c94b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1e3e5261546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7c3cab49f44cc5" /><Relationship Type="http://schemas.openxmlformats.org/officeDocument/2006/relationships/notesMaster" Target="/ppt/notesMasters/notesMaster1.xml" Id="R11a378921ca246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2f1e298c7a4a73" /><Relationship Type="http://schemas.openxmlformats.org/officeDocument/2006/relationships/notesMaster" Target="/ppt/notesMasters/notesMaster1.xml" Id="R09009748e65745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c790ef9344045" /><Relationship Type="http://schemas.openxmlformats.org/officeDocument/2006/relationships/notesMaster" Target="/ppt/notesMasters/notesMaster1.xml" Id="Rf3bd7f655bae43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9631767a374bd5" /><Relationship Type="http://schemas.openxmlformats.org/officeDocument/2006/relationships/notesMaster" Target="/ppt/notesMasters/notesMaster1.xml" Id="Rdecb2050701f47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82e9380b24f5f" /><Relationship Type="http://schemas.openxmlformats.org/officeDocument/2006/relationships/notesMaster" Target="/ppt/notesMasters/notesMaster1.xml" Id="R0585d0407fa14e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e4805162d47fa" /><Relationship Type="http://schemas.openxmlformats.org/officeDocument/2006/relationships/notesMaster" Target="/ppt/notesMasters/notesMaster1.xml" Id="R442e0a4f58cc48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fc65eafea417f" /><Relationship Type="http://schemas.openxmlformats.org/officeDocument/2006/relationships/notesMaster" Target="/ppt/notesMasters/notesMaster1.xml" Id="R878f5fc43f6e4b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ebf58c05904fa5" /><Relationship Type="http://schemas.openxmlformats.org/officeDocument/2006/relationships/notesMaster" Target="/ppt/notesMasters/notesMaster1.xml" Id="Rd3474555b8df45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11727187474b6a" /><Relationship Type="http://schemas.openxmlformats.org/officeDocument/2006/relationships/notesMaster" Target="/ppt/notesMasters/notesMaster1.xml" Id="Rc90b9c1168cc48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f091cca9345d9" /><Relationship Type="http://schemas.openxmlformats.org/officeDocument/2006/relationships/notesMaster" Target="/ppt/notesMasters/notesMaster1.xml" Id="Raeb2aa0adfd145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bd0b3aa19a4635" /><Relationship Type="http://schemas.openxmlformats.org/officeDocument/2006/relationships/notesMaster" Target="/ppt/notesMasters/notesMaster1.xml" Id="Rc3fe6f07032144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247e6bcd7b4bb0" /><Relationship Type="http://schemas.openxmlformats.org/officeDocument/2006/relationships/notesMaster" Target="/ppt/notesMasters/notesMaster1.xml" Id="R3fc6bc550af24f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eb66471997401c" /><Relationship Type="http://schemas.openxmlformats.org/officeDocument/2006/relationships/notesMaster" Target="/ppt/notesMasters/notesMaster1.xml" Id="R00cdf3dd31ef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开场只讲结论：这是产品方向与商业 MVP 边界决策，不是技术方案宣讲。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这一页给领导 60 秒抓住产品是什么、凭什么成立、这次要决定什么。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不要讨论所有功能，强调客户问题从监测走向闭环。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D:/三合星链/技术组/v2/项目文档/整体设计/GEO_OS_技术方案定稿版_V1.0.docx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先讲四层职责，再强调四层合起来才是产品。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第三方能力是租户隔离上的受控工作区，不等于 V1 建代理商商业平台。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这页是后续模块拆分的统一主线：每个模块都必须说明如何进入闭环。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把护城河从功能数量转到连续证据资产，避免团队被‘内容产量’牵引。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明确用户此前提出的 MVP 定义：功能闭环完整，不等于规则一次覆盖所有行业。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这不是收入预测，而是商业形态演进顺序。避免在客户闭环未稳定前建设白标、计费和开放 API。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正式客户 KPI 仍需语义 Gate 和 Coverage 上下文关闭后才能输出。此页是成功度量框架。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>- C:/Users/ADMINI~1/AppData/Local/Temp/codex-clipboard-57eefbe7-00d5-4ac9-a459-64a26b521ac9.png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必须明确披露当前未批准冻结的事实，避免领导把评审材料误解为已关闭 Gate。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C:/Users/ADMINI~1/AppData/Local/Temp/codex-clipboard-57eefbe7-00d5-4ac9-a459-64a26b521ac9.png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本页来自此前多轮文档审核结论。四项均为 Gate 关闭前的结构性问题，而不是阻止进入人工评审的前置条件。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>- C:/Users/ADMINI~1/AppData/Local/Temp/codex-clipboard-57eefbe7-00d5-4ac9-a459-64a26b521ac9.png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逐项记录 APPROVED / REJECTED / MODIFIED、负责人和日期；会后形成可追溯的 Decision Record。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eb260956948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fa21ad3b8407e" /><Relationship Type="http://schemas.openxmlformats.org/officeDocument/2006/relationships/slideLayout" Target="/ppt/slideLayouts/slideLayout1.xml" Id="R99450ada4bed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50ada4bed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f9a33af6240de" /><Relationship Type="http://schemas.openxmlformats.org/officeDocument/2006/relationships/notesSlide" Target="/ppt/notesSlides/notesSlide1.xml" Id="R237e6776975849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f4a6af1c4abb" /><Relationship Type="http://schemas.openxmlformats.org/officeDocument/2006/relationships/notesSlide" Target="/ppt/notesSlides/notesSlide2.xml" Id="Re234e08934d9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b68585280421b" /><Relationship Type="http://schemas.openxmlformats.org/officeDocument/2006/relationships/notesSlide" Target="/ppt/notesSlides/notesSlide3.xml" Id="Rbb2f935d52394a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48d47c174401d" /><Relationship Type="http://schemas.openxmlformats.org/officeDocument/2006/relationships/notesSlide" Target="/ppt/notesSlides/notesSlide4.xml" Id="Rac76abae69cd49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74ce3e1d54b67" /><Relationship Type="http://schemas.openxmlformats.org/officeDocument/2006/relationships/notesSlide" Target="/ppt/notesSlides/notesSlide5.xml" Id="Rfe85fbe6dbcc4e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0250f17df4c95" /><Relationship Type="http://schemas.openxmlformats.org/officeDocument/2006/relationships/notesSlide" Target="/ppt/notesSlides/notesSlide6.xml" Id="R97fdf1c02bfd44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3170a5e804313" /><Relationship Type="http://schemas.openxmlformats.org/officeDocument/2006/relationships/notesSlide" Target="/ppt/notesSlides/notesSlide7.xml" Id="Rf5ff5e6e0ab24c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f987a96364dfc" /><Relationship Type="http://schemas.openxmlformats.org/officeDocument/2006/relationships/notesSlide" Target="/ppt/notesSlides/notesSlide8.xml" Id="R58be63b1f6154c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00599a5d44ee7" /><Relationship Type="http://schemas.openxmlformats.org/officeDocument/2006/relationships/notesSlide" Target="/ppt/notesSlides/notesSlide9.xml" Id="Rea34a55ef2b048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529a5d13c4cd8" /><Relationship Type="http://schemas.openxmlformats.org/officeDocument/2006/relationships/notesSlide" Target="/ppt/notesSlides/notesSlide10.xml" Id="R5e9b904f1e1b42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9bf6f758d4f67" /><Relationship Type="http://schemas.openxmlformats.org/officeDocument/2006/relationships/notesSlide" Target="/ppt/notesSlides/notesSlide11.xml" Id="R3adbbe19d39d47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413d23f5d470a" /><Relationship Type="http://schemas.openxmlformats.org/officeDocument/2006/relationships/notesSlide" Target="/ppt/notesSlides/notesSlide12.xml" Id="Rc81b7d7af1864e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f6b2d5d2b4a33" /><Relationship Type="http://schemas.openxmlformats.org/officeDocument/2006/relationships/notesSlide" Target="/ppt/notesSlides/notesSlide13.xml" Id="R194224274d9d46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04049-22BA-49C9-8897-DC7C95C3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A466B-D32D-46BE-8AFE-3FAD1C70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GEO OS / PRODUCT DIRECTION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3CC24-F76D-4993-A487-EC262BD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42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GEO OS 产品方向与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Commercial MVP 决策汇报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D6BAA-C1D3-4748-A63D-FFB19DEE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产品形态、商业闭环、MVP 边界与待决策事项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C6CB-16DA-4B1D-9819-47193BE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215C0-5CFF-4A1A-88E9-D893AAE2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2026.08  |  产品方向评审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9FF05-1B40-44B9-8EF9-540C8484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38750"/>
            <a:ext cx="1943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C504F-9AC1-43FD-9F15-1156CD2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959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rPr>
              <a:t>DECISION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ABA9F-00C9-41F4-939F-BF14B460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内部决策材料</a:t>
            </a:r>
          </a:p>
        </p:txBody>
      </p:sp>
    </p:spTree>
    <p:extLst>
      <p:ext uri="{BB962C8B-B14F-4D97-AF65-F5344CB8AC3E}">
        <p14:creationId xmlns:p14="http://schemas.microsoft.com/office/powerpoint/2010/main" val="1755448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963BD-87E7-4F21-A53E-70275BE4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EXECUTIVE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38281-D7A6-4917-B602-F1E341C9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方向已经明确：先证明一个客户闭环可重复，再扩平台与商业模式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B84D4-0DF5-49C1-A8A3-3F52B6F7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9AF2-FD39-4CAE-8D36-2CBD3F43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804B3-5B2E-4F34-8161-F27BA10A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GEO OS 是面向企业与受控第三方的 Managed SaaS：真实观测 AI 决策过程，形成可解释、可行动、可复测的业务闭环。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FBDA9-923C-416F-93C8-0E352ED4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42F4-E49A-45B4-B64A-EEDE710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C7231-C6E1-4195-AEA0-EA80D41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企业业务操作系统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不是单点监测工具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9DDD7-6535-4598-959D-7A606DD0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84FEB-3EA2-4EC0-B910-61690E89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0E582-0835-4ACC-8B02-B58ABE43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 AI 端面观测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不是模拟问答数据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79124-CFE5-4A86-8024-37C5A96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A6CFE-A5B6-4F3A-A1EC-E2B73E9F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渠道边界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1A432-ED00-4513-B3B8-591D2CB0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受控第三方工作区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不是开放代理平台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45AEE-7067-4D50-9085-58ED2E4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010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76DF2-062C-4965-B737-6640CB8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本次请确认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AAAB2-FF9B-4FF6-A256-40979E86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244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Intelligence / Intervention / Publisher / 正式 KPI 的 Commercial MVP 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2FBFD-AFF4-4042-B440-1105930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435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建议：批准产品方向；范围契约仍按 Gate 0 正式关闭机制推进。</a:t>
            </a:r>
          </a:p>
        </p:txBody>
      </p:sp>
    </p:spTree>
    <p:extLst>
      <p:ext uri="{BB962C8B-B14F-4D97-AF65-F5344CB8AC3E}">
        <p14:creationId xmlns:p14="http://schemas.microsoft.com/office/powerpoint/2010/main" val="1992911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4C84E-9384-4827-84DB-48D6506D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950D0-1622-4F79-909C-208C82D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82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客户需要的不是“AI 提到没有”，而是可解释、可行动、可复测的增长闭环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B48C-EF7A-4F3B-BF08-55B4E36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DF6D0-0DCE-4FF4-BC2B-99FF760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803AC-8132-401C-B804-E28B0AB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71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旧方式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A34D8-C4EA-42B1-B72A-FAD719A8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6FD83-BB4A-4AF8-B131-FA519354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200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9CD7D-1542-4275-9DA0-89140CA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2768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F48E7-F6F3-47FB-B295-72FA98B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DF308-0938-4F1C-8C6C-7CFB5107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人工抽查，样本不可复现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F188C-09B2-40D8-8E54-A9F8EB09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D9C00-4796-4BC2-8277-3B03B56C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只看 Mention，无法解释原因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9CD5B-2082-4783-94AB-555E745F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E0A70-9CFE-41B5-BD1E-841249FD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监测、内容、复测彼此割裂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CA424-1869-4F63-B2E3-4D67187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0D555-0F3D-45F4-AD5E-A4AC03A0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交付依赖个人经验，难规模化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48FB8-DE45-4B76-B960-59AB84B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8FB8A-F611-47EE-94C5-8C82E48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真实观测，保留证据与上下文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AC00A-DC52-4710-AFF9-2AF1AFEF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C93F0-BB58-47A0-9519-2707BA6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测量 + 诊断，识别差距与根因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780AC-B479-4605-A00D-33412583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E5371-7679-45B8-91B1-EF7A056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干预进入任务，复测验证效果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D13F8-C2D9-472C-9DCD-530403A0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62485-E75B-4E8D-A388-125E8B5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快照与规则可追溯，形成可重复交付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24ADE-F06E-45B3-B01A-B06DE28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从“结果截图”升级为“决策证据链”</a:t>
            </a:r>
          </a:p>
        </p:txBody>
      </p:sp>
    </p:spTree>
    <p:extLst>
      <p:ext uri="{BB962C8B-B14F-4D97-AF65-F5344CB8AC3E}">
        <p14:creationId xmlns:p14="http://schemas.microsoft.com/office/powerpoint/2010/main" val="1120134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FA2BA-BC90-4E66-AA4E-06F8A7DA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PRODUCT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A7661-257F-4D07-B0FB-06743B3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63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产品形态是“企业工作台 + 真实观测网络 + 数据决策引擎 + 专业服务”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5AA6C-E9B3-4CA8-8D60-13238464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FB30F-8086-470C-B3FF-5D4E07B9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E14FC-FFE6-40B2-B4EA-C9CF7087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30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D0117-9FEA-4B75-871B-76318E9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D86CF-68B7-4851-814C-1B5C144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669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企业工作台 / 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FF6F8-8053-4FAF-8379-F3CA634A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客户、品牌、项目、需求、报告与权限管理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86E31-97F6-4589-A015-4F8D4131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03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3BF40-3253-48F7-84EA-0769790D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B2BCF-A3C0-4224-8660-033B5B5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813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 AI 端面观测 / Query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68A67-E599-40BD-8E44-A3A90951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 Web AI 端面执行、证据留存、可重放观测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13831-76FD-4896-9A09-2D615F3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977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052CF-0F89-46A9-BC86-1C0EB7B6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572EA-9C1E-4768-9511-1CE25BAD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数据决策与任务引擎 / AI &amp; Data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F317E-EA38-435D-9028-05D5DF21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抽取、测量、诊断、快照、干预任务与效果验证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CADB7-ED58-4817-9AA0-A9A47D46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950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D4663-A9CB-4348-AE50-804539F2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31207-7A8F-4924-863C-192AEF04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101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GEO 专业服务与行业规则 / Managed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22BB0-2306-4D3E-8AD9-AA3A1931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5D5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5D5D5"/>
                </a:solidFill>
                <a:latin typeface="Microsoft YaHei"/>
                <a:ea typeface="Microsoft YaHei"/>
                <a:cs typeface="Microsoft YaHei"/>
              </a:rPr>
              <a:t>行业规则、策略判断、交付运营与客户成功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7780D-BA8A-450F-A82B-0F41870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3830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F8CDB-62C2-4250-B4EF-E2900C26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95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rPr>
              <a:t>Managed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EBF1D-CCBD-4951-AD6B-7A87019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V1 的竞争单元不是一个页面，而是一套可交付、可审计的业务闭环。</a:t>
            </a:r>
          </a:p>
        </p:txBody>
      </p:sp>
    </p:spTree>
    <p:extLst>
      <p:ext uri="{BB962C8B-B14F-4D97-AF65-F5344CB8AC3E}">
        <p14:creationId xmlns:p14="http://schemas.microsoft.com/office/powerpoint/2010/main" val="1905790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B2E26-E778-4E47-BBB2-C71355A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USERS &amp;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9854C-1F83-44AA-9E18-2476E96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同一平台服务交付团队、策略团队、管理层与受控第三方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3D798-6FB4-4643-9351-AC620AA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36273-E05B-4B06-B55C-C13DEF6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5A358-7EDB-406B-894A-CCF56AC0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031BA-27AC-454E-B236-B481E3F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 / 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8E481-2BFB-4299-B5C8-60A72D4F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88DE7-1FED-4D77-AB24-87E38974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建项目、跑观测、处理异常、交付报告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21E4D-5542-44FB-A372-E7AA773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标准化交付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4EA86-2010-41B4-9050-F3C0F22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2570E-233D-494B-A1CE-14309357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策略 / 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9E3E6-C68A-41B6-AB9D-C6D5646C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224AC-A9B1-418C-BF87-513B7D64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诊断差距、提出干预、判断复测效果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7C140-5E25-46EE-839E-7AE0301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证据化决策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31C9B-E2D7-4158-9358-F4E4926D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556B7-6458-4A8B-942D-EA7049BC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8E42A-A3C2-4397-9D51-BD070C40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6C7BF-C964-476F-8602-D68BE0F9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看客户价值、资源效率、风险与进度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9BCFF-2667-470C-806F-62AFA797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可经营透明度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A86B3-8589-44A7-A4D1-7F054C67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DEA59-81C3-4F7A-B529-396F3E3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第三方工作区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10B61-4E14-43AF-A7A7-B014D707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6AD27-B57C-4728-B25A-C103C29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管理自有客户、品牌与项目，边界内协作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753E2-AF87-46B3-82C8-41A618C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rPr>
              <a:t>渠道可扩展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5E257-9388-4E47-8D12-945AF6D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7C13D-D1B9-443F-95D8-EB45AEDE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V1 渠道边界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6D9F2-732B-40E0-B85E-49830EAE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006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受控开通、只管理自有客户；不含自助注册、代理层级、白标、计费与开放 API。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2C6F2-B117-4982-8937-542AB38E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53075"/>
            <a:ext cx="845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客户侧只读授权访问可作为 P1，不阻塞首条闭环。</a:t>
            </a:r>
          </a:p>
        </p:txBody>
      </p:sp>
    </p:spTree>
    <p:extLst>
      <p:ext uri="{BB962C8B-B14F-4D97-AF65-F5344CB8AC3E}">
        <p14:creationId xmlns:p14="http://schemas.microsoft.com/office/powerpoint/2010/main" val="2119003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DF989F-3E34-477B-BD77-7E85D38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CORE CUSTOMER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5A23E-D6F0-42B5-91BA-CA7A15AC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一个客户闭环是产品成立的最小单元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63135-6F65-4632-B505-AE5210B7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8A568-971C-4119-B5C5-C0B1F1D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8286E-99F8-4D7D-B8DF-056784B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21522-363B-4628-BA5D-0B4FC466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4B95C-5DEE-4E78-951D-5D4629AB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894FB-BBF5-454B-95D5-000CD06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9A973-A893-48F0-A7AD-72789CE8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6349C-82F6-4C02-865A-78E2F8F9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084E6-1B26-494F-815D-F49AFFE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2EADB-E8CA-4552-BF22-8EDDEAF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4D797-ABE7-4C17-AC2D-2C367D24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6C90A-941B-43D5-987D-4CCA93A9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AF214-1D01-4225-9E7C-D02E740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D7A0D-A1DE-4FDC-985B-AED83987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140EE-5FFB-4113-BC43-7A17E5C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ED144-84F4-44A4-BD2E-99A770F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CBE7D-6B3A-40FA-8FE2-4AF65EA2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品牌事实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A058B-8C79-4998-8F56-5024AB4F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C4B3F-25D8-465B-A768-7BDED74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D9DA2-A188-4B7C-A499-5FA68E6E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真实观测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55432-9524-4D0A-B35B-2A236FEA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38E9F-983A-4188-962F-942DD8A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32E2D-7151-4186-8EAB-B5DDFC38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测量 / 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F73C5-6CB4-47D2-B68F-AC3B7FCC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8B15B8-4ACB-4293-A929-3995B7B9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ACA1F-9FEC-4810-BB90-03B3478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6C570A-F426-4299-AF3D-5B4684F4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C4695-2AEC-49B6-8EBA-14EDFC8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BC1C1-66BE-4E2F-878A-8973134A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复测 / 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5FD42-7C2A-4A67-8032-AC6829F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9A4D10-395D-4815-89E7-43FCFBFF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68BA2-F10F-4EBF-BADA-FFA4D3FF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9EA4E9-7E09-4122-BC11-D8FD205F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B10ACF-3EC3-4954-83B6-11CE632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事实链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9CBD45-DF9E-455F-BDE5-EBB4F1CC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5740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决策与价值链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5BF6A7-4DA7-499C-BF1D-A0A01CA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0896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49F9C-799E-4C03-B701-0F4E5160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闭环成立的判据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500D7A-279C-43ED-9ADA-9D0CA41F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同一客户、同一规则版本下，能够从原始观测追溯到判断、动作、复测与报告。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F2D0E-7CFE-4CE8-8D4F-D6FD18F8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不是“所有模块都做完”，而是“最危险的主链先跑通”。</a:t>
            </a:r>
          </a:p>
        </p:txBody>
      </p:sp>
    </p:spTree>
    <p:extLst>
      <p:ext uri="{BB962C8B-B14F-4D97-AF65-F5344CB8AC3E}">
        <p14:creationId xmlns:p14="http://schemas.microsoft.com/office/powerpoint/2010/main" val="758814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07BF47-F2B4-4D75-A409-7515E9E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2ABD1-DEE1-4A17-B049-0CE2ACF3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长期壁垒来自连续决策证据，而不是问题量或文章量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9A061-37F2-4F03-A9CA-F264F36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0B133-85BF-4D5A-A8C5-231D092D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CEF8-3ADA-4B94-957A-7D3E48D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可积累的数据资产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619C1-7079-4025-9633-D18D7C85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BC7FB-07C6-4517-A5AF-23870B7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D5465-9238-43AC-BDAB-07E4EF4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行业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2986D-E10B-45E4-9857-1431321F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11558-A8AE-469D-B96E-CD467BC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E990A-C3EA-4762-80BD-A04589D6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0DE16-19CA-45F9-AD53-9E550498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49437-B1C0-44D9-A8BB-7E04AF7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DDA6F-ADD5-43FA-BE69-DA2DED56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端面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88272-6E84-46A1-8D23-B2601F21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CE897-630F-4CBE-8F92-8B2FEC50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70A4D-D676-47EE-A239-F126188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AC279-D260-4971-AFCB-08B258D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5838E-F761-42B9-90CD-7EC7811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AD2A5-8A4A-4480-9324-52612294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品牌事实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0BA1A-FD8C-4013-A8B1-0A61B0AF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B3C85-4DDA-456E-A35C-112502D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9128B-8566-43B7-AC5E-F653DE1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根因假设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B9E33-9F63-48A1-8FF4-26AB604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2B441-092B-4B6C-B828-C9AFE435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7E2A6-96DE-4674-8F87-F890FB71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82428C-E484-4666-ADDD-E10FE53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7FE02-6C55-4F33-8F24-7EC4479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观测效果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2D7E6-1F95-4E7F-8C0A-6C79EB65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A8665-EE61-49C3-B172-F24EC1FF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rPr>
              <a:t>每次观测与干预，都为下一次策略判断提供可复用的行业证据。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9AC96-953E-4806-9627-55C263B5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不构成壁垒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C5775-F0A0-4524-818A-58501BE9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更多问题数  /  更多文章数  /  更花哨的监测看板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AC4424-4DD3-4B38-B07D-126B0534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9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可被复制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AE06F-BD3E-48A7-AD76-391EA126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12FED-31DE-44A6-BBBF-2D07523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真正不可替代：有版本、有上下文、有复测结果的决策证据链。</a:t>
            </a:r>
          </a:p>
        </p:txBody>
      </p:sp>
    </p:spTree>
    <p:extLst>
      <p:ext uri="{BB962C8B-B14F-4D97-AF65-F5344CB8AC3E}">
        <p14:creationId xmlns:p14="http://schemas.microsoft.com/office/powerpoint/2010/main" val="100790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F6930-D1E2-43C9-957F-072726B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COMMERCIAL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147F0-6CF2-40BF-A248-E69A25C5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Commercial MVP：完整代码闭环 + 单行业最小规则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EE861-2FE3-4751-A985-88FD17C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B252-7D32-4011-BF78-01FBCD80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6F222-0C39-4200-885D-95A9FA4A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2578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FD86A-B0D1-447F-86C4-B6B09BB2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4864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396CB-EB76-4728-B31B-F20785B4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rPr>
              <a:t>IN — 必须证明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091B6-4B19-4289-973C-A2E3092B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完整代码能力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B36EE-21CC-427D-B6E7-D4503D9A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1–3 个试点客户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2B28C-571B-4A4A-B1B7-7DB638CF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1–2 个锚点行业 + 1 个影子行业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E9609-0DC9-4DC6-9CB5-D76CBBF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2–3 个 Web AI 端面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F78EC-07C4-468B-9CC6-99D7631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观测 → 最小诊断 → 人工干预记录 → 复测 → 基础报告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65AA7-D215-412B-AFC2-39019EBB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一个行业的最小冻结口径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D00D9-CC65-4A81-ADF0-724086D6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OUT / DEFERRED — 不阻塞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40ECF-F61D-4AB1-BD8F-215BD217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规则广度与平台扩张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8ED83-34D2-427E-97A9-CE7D37C7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覆盖 100 个行业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B5B8C-F75F-41F0-887F-44CEFAD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43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移动端生产化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F0E15-07C7-4E67-B9F7-0DF6F8EA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Publisher 自动化作为上线门禁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6C180-681C-4D83-8270-8D76C65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624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严格因果归因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EE0AF-BD81-4856-B868-ADF00BBC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自助注册 / 白标 / 计费 / 开放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C52BA-4BAB-4C0B-89C7-9BCC06B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1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5EF64-F546-4A10-9E58-E224A11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原则：代码路径先正确、接口先可扩展；规则覆盖按行业逐步补齐。</a:t>
            </a:r>
          </a:p>
        </p:txBody>
      </p:sp>
    </p:spTree>
    <p:extLst>
      <p:ext uri="{BB962C8B-B14F-4D97-AF65-F5344CB8AC3E}">
        <p14:creationId xmlns:p14="http://schemas.microsoft.com/office/powerpoint/2010/main" val="1263255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15815-18D1-43B2-99AF-457D8F0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COMMERCIAL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502CC-815F-4C1B-93A7-CBDEC8C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当前收入形态是 Managed SaaS，平台化收入分阶段打开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B2913-1696-400E-826B-3D194660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DD9B6-9D6E-4697-B99E-76E670B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6E180-8EAC-48DC-B08E-4DEB1E7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400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2174D-1D80-45D0-B30B-E492C956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01 /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89623-9CB3-4093-A65B-BDA3644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GEO 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5E3D3-F010-4E41-9B25-183136E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2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2D2D2"/>
                </a:solidFill>
                <a:latin typeface="Microsoft YaHei"/>
                <a:ea typeface="Microsoft YaHei"/>
                <a:cs typeface="Microsoft YaHei"/>
              </a:rPr>
              <a:t>年度托管服务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41B00-297F-4F82-AD75-9C78BBD5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4250"/>
            <a:ext cx="24003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F023E-6D50-4717-B546-81EA4D9B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/ MID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6EB82-5645-42BC-B1AF-E2272E95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F1F30-68D0-4C5E-8470-8AB4943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672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多品牌、治理、规模交付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F0B5E-4A6D-4AB5-B71E-A44502A6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400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EA7DE-EE25-4F70-83AB-2940047D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/ 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29F5A-22B6-4602-9B71-6299429C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Agency /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F3C24-0312-49B8-864B-3B23ABE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渠道与系统集成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1DDEF-AD04-445F-9FD8-123B365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2400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460A4-6E46-4672-8E0C-A938627B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52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/ LONG TERM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CABBF-B84D-443E-93D4-72046A98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860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Data Product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2D531-24EB-4FC6-A207-A01F9D9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行业基准与情报产品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DA327-D212-4A32-83E5-08D8A12E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先把单位客户闭环做稳，再把组织、渠道和数据杠杆依次打开。</a:t>
            </a:r>
          </a:p>
        </p:txBody>
      </p:sp>
    </p:spTree>
    <p:extLst>
      <p:ext uri="{BB962C8B-B14F-4D97-AF65-F5344CB8AC3E}">
        <p14:creationId xmlns:p14="http://schemas.microsoft.com/office/powerpoint/2010/main" val="772851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8CAB0-A718-4658-9C7C-7A45695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SUCCESS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7BF8B-261E-497F-9215-C675DAA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产品成功必须同时证明客户价值、交付效率和数据可信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90591-7B9A-430A-94F3-0BB09CE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D07F3-EDF6-4D04-B381-6487C5C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2A7DD-F831-415D-A0BA-628252F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三个维度缺一不可；单看 Query 数量或内容产量，会把团队带向错误优化。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8919E-B42F-405A-9056-E390D63F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0458F-0143-457F-962D-71A0738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客户价值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27B02-382B-489C-826E-FE20583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EEC82-BF05-4D02-B0E0-89B51B89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522B1-0C14-4A72-B134-3CF203CC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可行动差距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复测结果可解释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试点续约 / 扩单信号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B7EA5-3227-4777-BD9C-C79F88DD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6BA16-1FA8-442C-B0E8-0BC78513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交付效率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7A38D-FDE7-4436-96F1-ADC33A13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18219-5370-42D7-8533-BB29CDE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E2024-F900-4988-AE89-1C4B425E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386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单客户工时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单运营可服务客户数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自动化率与毛利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F175D-58CD-4D79-86A5-4C273EB8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48917-5EA3-447B-949E-DD5CE28F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数据可信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76B02-3EF7-49CD-844A-3B5356B2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BA172-3DF4-40E6-AD04-53944E1D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83D4D-E2AD-447F-A532-2048578B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有效观测覆盖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全链路可追溯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快照可复现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40007-CCF8-4B40-B57D-0C64879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不是核心 KPI：问题数、文章数、纯 Mention 排名。</a:t>
            </a:r>
          </a:p>
        </p:txBody>
      </p:sp>
    </p:spTree>
    <p:extLst>
      <p:ext uri="{BB962C8B-B14F-4D97-AF65-F5344CB8AC3E}">
        <p14:creationId xmlns:p14="http://schemas.microsoft.com/office/powerpoint/2010/main" val="1692697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D8061F-35C0-45E2-AFBE-6D45EFB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825A6-D565-4E44-A959-0C8EE06F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架构已批准启动，但产品范围仍受 Gate 0 正式评审约束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02570-D3D0-46C3-94C3-4AA2FB3F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B85D7-B3A3-4293-98D8-A21CAEB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2E2A0-E1CE-4E01-A2D6-CB67DFB4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FE2BA-44BB-477E-A2FF-386ABE1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53763-6F6F-4786-9AB4-A2578960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9F47E-A9BF-413A-9127-0DF1CFA9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F52BB-AD5A-4392-B93E-4207660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已冻结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0BE54-1F26-455D-BAED-72E255D9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18734-0DA3-4DD8-9DFC-8183BC4A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727F7-5A9F-4797-8FF0-213EBAD8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 V1.1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4A7BB-E92B-4A2C-A3E9-B3672C63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批准启动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00E5E-60B0-49C3-B8CD-559E3D79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E508D-A617-4F19-9DDA-5CC09C94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F5C9D-9798-4734-8AF7-FC3EEE7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G0-01 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9A219-C095-4FF2-9BFA-19872D1D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材料完备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68E53-12C7-4E77-870F-AF5ED04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8A828-4630-4744-8F5C-10A8CA8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05CDA-A9D1-4B64-ACFA-4695D27F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正式评审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5F99D-8147-43D7-8634-9FDF37DE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PENDING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6238F-81CD-4F81-AA2C-89B8EC4B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1B828-7072-4933-9E4B-959FCBB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0D35C-BE0C-4A86-B0E3-D9E4CEF3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Walking Skeleton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880E1-3901-4D19-8687-08E1455D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非争议部分并行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F7300-6760-4CDB-A04E-75F8EFDF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010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561B1-A31A-4D45-A596-63689C7A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45079-ED22-4ECB-AD07-F14B04C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39 项：32 IN / 2 OUT / 5 DEFERRED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70FC8-4648-4F54-8732-BE20DA6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GATE BLOCKERS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7FC54-9629-4009-961B-07F3D60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项结构问题 / 6 项 Open 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C01AF6-7AC7-427F-AE59-01590376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720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GOVERNANCE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C810D-D798-4C11-A575-7087152E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一人可兼任；责任链待补齐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DCEA8-0E70-424E-BCD3-57C244A2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当前状态：OPEN / PENDING REVIEW。材料完备不等于 Gate 关闭。</a:t>
            </a:r>
          </a:p>
        </p:txBody>
      </p:sp>
    </p:spTree>
    <p:extLst>
      <p:ext uri="{BB962C8B-B14F-4D97-AF65-F5344CB8AC3E}">
        <p14:creationId xmlns:p14="http://schemas.microsoft.com/office/powerpoint/2010/main" val="13002055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F5F18-B8B4-4C65-BCF6-41F6B2C0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REVIEW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B52FF-C179-4CB5-8991-FE0A5446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G0-01 可进入正式评审，但关闭前必须解决四项结构性问题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7DF2-B5E3-496E-A045-7CF196C7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701CE-DE7C-4282-A5D5-8927F3C3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B5A5-DCC9-431B-A042-33B0692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FAB6F-0C01-4FA4-9B58-9549811F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责任链字段不完整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F0181-860C-415F-93D0-8E04B31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699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拆分 Primary Owner、Backup Owner、Approver、确认凭证与确认时间；同一人可以兼任。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DA06B-C044-4236-8BFE-F6C4E14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86C30-F668-44D2-A029-13E1DFFC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BD256-4BE4-4512-8BC2-C7668DEA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就绪公式可能提前放行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27740-FE2E-451F-92EF-650BE416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699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区分 REVIEW_READY 与 CLOSURE_READY；空值、TBD 或 CANCELLED 不得形成自动关闭。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9E72C-707D-4E23-A9C2-838910B7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49BB2-AE8D-48EF-B7D5-F12456A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B6DFF-AACE-4520-831C-4B1DD56A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Open Decision 状态语义不一致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01284-4BC0-4498-9635-2886597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699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RESOLVED、CANCELLED、ACCEPTED_LIMITATION 分别绑定证据、审批与影响；OPEN 一律阻塞。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65474-97A9-4090-B610-E239622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06639-3EC6-42DC-80F1-16CF54F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D96F1-2C21-4917-ABCF-10EE8F22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权威引用存在版本漂移风险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AF0DB-3E5B-4685-AE79-F2CD16E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72000"/>
            <a:ext cx="699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Architecture、ADR、Scope Matrix 与 A/B 决议包的状态、版本和引用关系必须一致。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CAB37-3CC4-4468-B312-B8D4575B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45635-2570-48CC-9C82-6A5E918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01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4EFFF-F26F-4D9F-B1E4-B96F7C44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单人项目不要求 39 名不同负责人；但必须记录 SINGLE_OWNER_PROJECT 治理例外，并保留批准与确认依据。</a:t>
            </a:r>
          </a:p>
        </p:txBody>
      </p:sp>
    </p:spTree>
    <p:extLst>
      <p:ext uri="{BB962C8B-B14F-4D97-AF65-F5344CB8AC3E}">
        <p14:creationId xmlns:p14="http://schemas.microsoft.com/office/powerpoint/2010/main" val="330334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49187-9579-486F-A0EC-8982AE3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DECISIONS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603D-CC22-4140-9C98-8EEDCB36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建议批准四项 DEFERRED 边界，并确认单人项目治理例外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C69F1-E947-4A1E-AE1F-BF4C59F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7E612-4A03-4ABA-9F3E-86EAFC4E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FF820-9AFB-4A38-A2A0-927E8547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4DA05-DB50-4962-AF33-978BE1A7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GEO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0DC8F-8445-463D-9AF3-2401BAE9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建议 DEFERRED；不阻塞 Walking Skeleton 的最小诊断能力。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C09B6-7D60-45F4-AD04-AEA49738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E805C-36CC-4285-8645-58BAB58C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0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AA46A-7C49-495B-9265-3DF653F4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Intervention /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4AF26-270E-48EF-AB39-AFF0C8C6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正式模块 DEFERRED；保留人工干预记录与复测证据的技术路径。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7123C-E24D-469B-BD84-805C4DC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0E8A2-B61A-4013-B278-3A9F9AD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051AE-3F70-49FC-83EC-E7157672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Publisher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FFBF0-C8AE-40F5-96D6-E64D45E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建议 DEFERRED；自动发布不作为 Commercial MVP 上线门禁。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A3192-86F7-4A8F-AFAD-91014D3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1CD4B-FD8F-40DD-BF09-8336F06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58D64-A099-43C2-8394-EC1F1884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正式客户 KPI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F5C95-35E2-46C1-8973-534B3F9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建议 DEFERRED；待 Pack B/C、Coverage Context 与相关语义 Gate 关闭后开放。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148EA-6D98-4404-A62D-5BBD8483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299C8-F97C-4BD6-AEAD-8E2C242E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43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AA9A4-BE33-4B4C-8B81-965CBDE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责任与批准机制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5642D-7CB0-4FAA-8295-05C5C598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一人可兼任多个角色；仍需主责、备份例外、批准人、确认凭证与时间。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065EC-9A0D-4154-B16C-45F4BAED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A91CA-8E21-4E56-A94A-CBC94864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010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01046-01EB-4467-BCCD-136CA72E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建议结论：批准产品方向与上述边界；保持 G0-01 OPEN，继续非争议工程；按证据关闭 Gate。</a:t>
            </a:r>
          </a:p>
        </p:txBody>
      </p:sp>
    </p:spTree>
    <p:extLst>
      <p:ext uri="{BB962C8B-B14F-4D97-AF65-F5344CB8AC3E}">
        <p14:creationId xmlns:p14="http://schemas.microsoft.com/office/powerpoint/2010/main" val="1415598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2026-08-21T07:07:40.0270000Z</dcterms:created>
  <dcterms:modified xsi:type="dcterms:W3CDTF">2026-08-21T07:07:40.0270000Z</dcterms:modified>
</coreProperties>
</file>