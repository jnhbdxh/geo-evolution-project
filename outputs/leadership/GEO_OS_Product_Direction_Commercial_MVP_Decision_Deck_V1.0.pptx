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bea42147464a81" /><Relationship Type="http://schemas.openxmlformats.org/officeDocument/2006/relationships/extended-properties" Target="/docProps/app.xml" Id="R635346f64dcd46ee" /><Relationship Type="http://schemas.openxmlformats.org/officeDocument/2006/relationships/officeDocument" Target="/ppt/presentation.xml" Id="R26c528d5509b42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aa73080b8b447c"/>
  </p:sldMasterIdLst>
  <p:notesMasterIdLst>
    <p:notesMasterId xmlns:r="http://schemas.openxmlformats.org/officeDocument/2006/relationships" r:id="R94e63f36b2fe4e18"/>
  </p:notesMasterIdLst>
  <p:sldIdLst>
    <p:sldId xmlns:r="http://schemas.openxmlformats.org/officeDocument/2006/relationships" id="256" r:id="R35f6079293c94e71"/>
    <p:sldId xmlns:r="http://schemas.openxmlformats.org/officeDocument/2006/relationships" id="257" r:id="R54194d56add1483b"/>
    <p:sldId xmlns:r="http://schemas.openxmlformats.org/officeDocument/2006/relationships" id="258" r:id="Rc19d4e24328547de"/>
    <p:sldId xmlns:r="http://schemas.openxmlformats.org/officeDocument/2006/relationships" id="259" r:id="R402d9243b3104abf"/>
    <p:sldId xmlns:r="http://schemas.openxmlformats.org/officeDocument/2006/relationships" id="260" r:id="R103a66a167a74870"/>
    <p:sldId xmlns:r="http://schemas.openxmlformats.org/officeDocument/2006/relationships" id="261" r:id="Rd6b5ba29bb9c4235"/>
    <p:sldId xmlns:r="http://schemas.openxmlformats.org/officeDocument/2006/relationships" id="262" r:id="R8c060ace43294067"/>
    <p:sldId xmlns:r="http://schemas.openxmlformats.org/officeDocument/2006/relationships" id="263" r:id="R2d1aab58438d445b"/>
    <p:sldId xmlns:r="http://schemas.openxmlformats.org/officeDocument/2006/relationships" id="264" r:id="Ra3a0ecb4b9174a05"/>
    <p:sldId xmlns:r="http://schemas.openxmlformats.org/officeDocument/2006/relationships" id="265" r:id="R84fb34eec94b46af"/>
    <p:sldId xmlns:r="http://schemas.openxmlformats.org/officeDocument/2006/relationships" id="266" r:id="R480addf6387a45e3"/>
    <p:sldId xmlns:r="http://schemas.openxmlformats.org/officeDocument/2006/relationships" id="267" r:id="R7e75de1bd7fc4f4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60ad8c076048a9" /><Relationship Type="http://schemas.openxmlformats.org/officeDocument/2006/relationships/slideMaster" Target="/ppt/slideMasters/slideMaster1.xml" Id="Rc2aa73080b8b447c" /><Relationship Type="http://schemas.openxmlformats.org/officeDocument/2006/relationships/notesMaster" Target="/ppt/notesMasters/notesMaster1.xml" Id="R94e63f36b2fe4e18" /><Relationship Type="http://schemas.openxmlformats.org/officeDocument/2006/relationships/presProps" Target="/ppt/presProps.xml" Id="Rc84061c51bef44a3" /><Relationship Type="http://schemas.openxmlformats.org/officeDocument/2006/relationships/tableStyles" Target="/ppt/tableStyles.xml" Id="Rebb902ba3bad495c" /><Relationship Type="http://schemas.openxmlformats.org/officeDocument/2006/relationships/slide" Target="/ppt/slides/slide1.xml" Id="R35f6079293c94e71" /><Relationship Type="http://schemas.openxmlformats.org/officeDocument/2006/relationships/slide" Target="/ppt/slides/slide2.xml" Id="R54194d56add1483b" /><Relationship Type="http://schemas.openxmlformats.org/officeDocument/2006/relationships/slide" Target="/ppt/slides/slide3.xml" Id="Rc19d4e24328547de" /><Relationship Type="http://schemas.openxmlformats.org/officeDocument/2006/relationships/slide" Target="/ppt/slides/slide4.xml" Id="R402d9243b3104abf" /><Relationship Type="http://schemas.openxmlformats.org/officeDocument/2006/relationships/slide" Target="/ppt/slides/slide5.xml" Id="R103a66a167a74870" /><Relationship Type="http://schemas.openxmlformats.org/officeDocument/2006/relationships/slide" Target="/ppt/slides/slide6.xml" Id="Rd6b5ba29bb9c4235" /><Relationship Type="http://schemas.openxmlformats.org/officeDocument/2006/relationships/slide" Target="/ppt/slides/slide7.xml" Id="R8c060ace43294067" /><Relationship Type="http://schemas.openxmlformats.org/officeDocument/2006/relationships/slide" Target="/ppt/slides/slide8.xml" Id="R2d1aab58438d445b" /><Relationship Type="http://schemas.openxmlformats.org/officeDocument/2006/relationships/slide" Target="/ppt/slides/slide9.xml" Id="Ra3a0ecb4b9174a05" /><Relationship Type="http://schemas.openxmlformats.org/officeDocument/2006/relationships/slide" Target="/ppt/slides/slide10.xml" Id="R84fb34eec94b46af" /><Relationship Type="http://schemas.openxmlformats.org/officeDocument/2006/relationships/slide" Target="/ppt/slides/slide11.xml" Id="R480addf6387a45e3" /><Relationship Type="http://schemas.openxmlformats.org/officeDocument/2006/relationships/slide" Target="/ppt/slides/slide12.xml" Id="R7e75de1bd7fc4f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814d71410b84b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423ef833da41c1" /><Relationship Type="http://schemas.openxmlformats.org/officeDocument/2006/relationships/notesMaster" Target="/ppt/notesMasters/notesMaster1.xml" Id="Ra31ee25967fe493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4d78b248f044e32" /><Relationship Type="http://schemas.openxmlformats.org/officeDocument/2006/relationships/notesMaster" Target="/ppt/notesMasters/notesMaster1.xml" Id="R403210c9f1604fb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c7158e751e64d6a" /><Relationship Type="http://schemas.openxmlformats.org/officeDocument/2006/relationships/notesMaster" Target="/ppt/notesMasters/notesMaster1.xml" Id="R0ba0b46919624f0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cc0c775657d4b23" /><Relationship Type="http://schemas.openxmlformats.org/officeDocument/2006/relationships/notesMaster" Target="/ppt/notesMasters/notesMaster1.xml" Id="R733361d29554476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06eb586ff0241dc" /><Relationship Type="http://schemas.openxmlformats.org/officeDocument/2006/relationships/notesMaster" Target="/ppt/notesMasters/notesMaster1.xml" Id="R7fc1dbe7f2ca419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da89be418674f09" /><Relationship Type="http://schemas.openxmlformats.org/officeDocument/2006/relationships/notesMaster" Target="/ppt/notesMasters/notesMaster1.xml" Id="Rfdc167cafef746a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a767e7eb12c4e68" /><Relationship Type="http://schemas.openxmlformats.org/officeDocument/2006/relationships/notesMaster" Target="/ppt/notesMasters/notesMaster1.xml" Id="R9be7f5e32c6d490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062ce8894d04489" /><Relationship Type="http://schemas.openxmlformats.org/officeDocument/2006/relationships/notesMaster" Target="/ppt/notesMasters/notesMaster1.xml" Id="Ra5bfe277dd3c4d7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fb75f0df85c4546" /><Relationship Type="http://schemas.openxmlformats.org/officeDocument/2006/relationships/notesMaster" Target="/ppt/notesMasters/notesMaster1.xml" Id="Rffd03e3aebd7483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78e24b49690442d" /><Relationship Type="http://schemas.openxmlformats.org/officeDocument/2006/relationships/notesMaster" Target="/ppt/notesMasters/notesMaster1.xml" Id="R5802f6d4469a49c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9fe1d6f0e634852" /><Relationship Type="http://schemas.openxmlformats.org/officeDocument/2006/relationships/notesMaster" Target="/ppt/notesMasters/notesMaster1.xml" Id="R0710ffdb4930461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2d0e00d45234abc" /><Relationship Type="http://schemas.openxmlformats.org/officeDocument/2006/relationships/notesMaster" Target="/ppt/notesMasters/notesMaster1.xml" Id="R539e06d1503547c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D:/三合星链/技术组/v2/项目文档/整体设计/GEO_OS_业务背景定稿版_V1.0.docx</a:t>
            </a:r>
          </a:p>
          <a:p xmlns:a="http://schemas.openxmlformats.org/drawingml/2006/main">
            <a:r>
              <a:t>- D:/三合星链/技术组/v2/项目文档/整体设计/GEO_OS_产品方案定稿版_V1.0.docx</a:t>
            </a:r>
          </a:p>
          <a:p xmlns:a="http://schemas.openxmlformats.org/drawingml/2006/main">
            <a:r>
              <a:t>- D:/三合星链/技术组/v2/项目文档/整体设计/GEO_OS_需求方案定稿版_V1.0.docx</a:t>
            </a:r>
          </a:p>
          <a:p xmlns:a="http://schemas.openxmlformats.org/drawingml/2006/main">
            <a:r>
              <a:t>- D:/code/geo-evolution-project/docs/architecture/GEO_OS_Technical_Architecture_Reconciliation_V1.1.docx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Note]</a:t>
            </a:r>
          </a:p>
          <a:p xmlns:a="http://schemas.openxmlformats.org/drawingml/2006/main">
            <a:r>
              <a:t>开场只讲结论：这是产品方向与商业 MVP 边界决策，不是技术方案宣讲。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D:/三合星链/技术组/v2/项目文档/整体设计/GEO_OS_产品方案定稿版_V1.0.docx</a:t>
            </a:r>
          </a:p>
          <a:p xmlns:a="http://schemas.openxmlformats.org/drawingml/2006/main">
            <a:r>
              <a:t>- D:/三合星链/技术组/v2/项目文档/整体设计/GEO_OS_需求方案定稿版_V1.0.docx</a:t>
            </a:r>
          </a:p>
          <a:p xmlns:a="http://schemas.openxmlformats.org/drawingml/2006/main">
            <a:r>
              <a:t>- D:/code/geo-evolution-project/docs/architecture/GEO_OS_Technical_Architecture_Reconciliation_V1.1.docx</a:t>
            </a:r>
          </a:p>
          <a:p xmlns:a="http://schemas.openxmlformats.org/drawingml/2006/main">
            <a:r>
              <a:t>- D:/code/geo-evolution-project/outputs/g0-01/GEO_OS_G0-01_Authority_Change_Control_ADR-001_V1.0.docx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Note]</a:t>
            </a:r>
          </a:p>
          <a:p xmlns:a="http://schemas.openxmlformats.org/drawingml/2006/main">
            <a:r>
              <a:t>这一页给领导 60 秒抓住产品是什么、凭什么成立、这次要决定什么。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D:/三合星链/技术组/v2/项目文档/整体设计/GEO_OS_业务背景定稿版_V1.0.docx</a:t>
            </a:r>
          </a:p>
          <a:p xmlns:a="http://schemas.openxmlformats.org/drawingml/2006/main">
            <a:r>
              <a:t>- D:/三合星链/技术组/v2/项目文档/整体设计/GEO_OS_产品方案定稿版_V1.0.docx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Note]</a:t>
            </a:r>
          </a:p>
          <a:p xmlns:a="http://schemas.openxmlformats.org/drawingml/2006/main">
            <a:r>
              <a:t>不要讨论所有功能，强调客户问题从监测走向闭环。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D:/三合星链/技术组/v2/项目文档/整体设计/GEO_OS_产品方案定稿版_V1.0.docx</a:t>
            </a:r>
          </a:p>
          <a:p xmlns:a="http://schemas.openxmlformats.org/drawingml/2006/main">
            <a:r>
              <a:t>- D:/三合星链/技术组/v2/项目文档/整体设计/GEO_OS_技术方案定稿版_V1.0.docx</a:t>
            </a:r>
          </a:p>
          <a:p xmlns:a="http://schemas.openxmlformats.org/drawingml/2006/main">
            <a:r>
              <a:t>- D:/code/geo-evolution-project/docs/architecture/GEO_OS_Technical_Architecture_Reconciliation_V1.1.docx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Note]</a:t>
            </a:r>
          </a:p>
          <a:p xmlns:a="http://schemas.openxmlformats.org/drawingml/2006/main">
            <a:r>
              <a:t>先讲四层职责，再强调四层合起来才是产品。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D:/三合星链/技术组/v2/项目文档/整体设计/GEO_OS_产品方案定稿版_V1.0.docx</a:t>
            </a:r>
          </a:p>
          <a:p xmlns:a="http://schemas.openxmlformats.org/drawingml/2006/main">
            <a:r>
              <a:t>- D:/三合星链/技术组/v2/项目文档/整体设计/GEO_OS_需求方案定稿版_V1.0.docx</a:t>
            </a:r>
          </a:p>
          <a:p xmlns:a="http://schemas.openxmlformats.org/drawingml/2006/main">
            <a:r>
              <a:t>- D:/code/geo-evolution-project/docs/architecture/GEO_OS_Technical_Architecture_Reconciliation_V1.1.docx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Note]</a:t>
            </a:r>
          </a:p>
          <a:p xmlns:a="http://schemas.openxmlformats.org/drawingml/2006/main">
            <a:r>
              <a:t>第三方能力是租户隔离上的受控工作区，不等于 V1 建代理商商业平台。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D:/三合星链/技术组/v2/项目文档/整体设计/GEO_OS_产品方案定稿版_V1.0.docx</a:t>
            </a:r>
          </a:p>
          <a:p xmlns:a="http://schemas.openxmlformats.org/drawingml/2006/main">
            <a:r>
              <a:t>- D:/三合星链/技术组/v2/项目文档/整体设计/GEO_OS_需求方案定稿版_V1.0.docx</a:t>
            </a:r>
          </a:p>
          <a:p xmlns:a="http://schemas.openxmlformats.org/drawingml/2006/main">
            <a:r>
              <a:t>- D:/code/geo-evolution-project/docs/architecture/GEO_OS_Technical_Architecture_Reconciliation_V1.1.docx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Note]</a:t>
            </a:r>
          </a:p>
          <a:p xmlns:a="http://schemas.openxmlformats.org/drawingml/2006/main">
            <a:r>
              <a:t>这页是后续模块拆分的统一主线：每个模块都必须说明如何进入闭环。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D:/三合星链/技术组/v2/项目文档/整体设计/GEO_OS_业务背景定稿版_V1.0.docx</a:t>
            </a:r>
          </a:p>
          <a:p xmlns:a="http://schemas.openxmlformats.org/drawingml/2006/main">
            <a:r>
              <a:t>- D:/三合星链/技术组/v2/项目文档/整体设计/GEO_OS_产品方案定稿版_V1.0.docx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Note]</a:t>
            </a:r>
          </a:p>
          <a:p xmlns:a="http://schemas.openxmlformats.org/drawingml/2006/main">
            <a:r>
              <a:t>把护城河从功能数量转到连续证据资产，避免团队被‘内容产量’牵引。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D:/三合星链/技术组/v2/项目文档/整体设计/GEO_OS_产品方案定稿版_V1.0.docx</a:t>
            </a:r>
          </a:p>
          <a:p xmlns:a="http://schemas.openxmlformats.org/drawingml/2006/main">
            <a:r>
              <a:t>- D:/三合星链/技术组/v2/项目文档/整体设计/GEO_OS_需求方案定稿版_V1.0.docx</a:t>
            </a:r>
          </a:p>
          <a:p xmlns:a="http://schemas.openxmlformats.org/drawingml/2006/main">
            <a:r>
              <a:t>- D:/code/geo-evolution-project/docs/architecture/GEO_OS_Technical_Architecture_Reconciliation_V1.1.docx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Note]</a:t>
            </a:r>
          </a:p>
          <a:p xmlns:a="http://schemas.openxmlformats.org/drawingml/2006/main">
            <a:r>
              <a:t>明确用户此前提出的 MVP 定义：功能闭环完整，不等于规则一次覆盖所有行业。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D:/三合星链/技术组/v2/项目文档/整体设计/GEO_OS_业务背景定稿版_V1.0.docx</a:t>
            </a:r>
          </a:p>
          <a:p xmlns:a="http://schemas.openxmlformats.org/drawingml/2006/main">
            <a:r>
              <a:t>- D:/三合星链/技术组/v2/项目文档/整体设计/GEO_OS_产品方案定稿版_V1.0.docx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Note]</a:t>
            </a:r>
          </a:p>
          <a:p xmlns:a="http://schemas.openxmlformats.org/drawingml/2006/main">
            <a:r>
              <a:t>这不是收入预测，而是商业形态演进顺序。避免在客户闭环未稳定前建设白标、计费和开放 API。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D:/三合星链/技术组/v2/项目文档/整体设计/GEO_OS_产品方案定稿版_V1.0.docx</a:t>
            </a:r>
          </a:p>
          <a:p xmlns:a="http://schemas.openxmlformats.org/drawingml/2006/main">
            <a:r>
              <a:t>- D:/三合星链/技术组/v2/项目文档/整体设计/GEO_OS_需求方案定稿版_V1.0.docx</a:t>
            </a:r>
          </a:p>
          <a:p xmlns:a="http://schemas.openxmlformats.org/drawingml/2006/main">
            <a:r>
              <a:t>- D:/code/geo-evolution-project/docs/architecture/GEO_OS_Technical_Architecture_Reconciliation_V1.1.docx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Note]</a:t>
            </a:r>
          </a:p>
          <a:p xmlns:a="http://schemas.openxmlformats.org/drawingml/2006/main">
            <a:r>
              <a:t>正式客户 KPI 仍需语义 Gate 和 Coverage 上下文关闭后才能输出。此页是成功度量框架。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D:/code/geo-evolution-project/docs/architecture/GEO_OS_Technical_Architecture_Reconciliation_V1.1.docx</a:t>
            </a:r>
          </a:p>
          <a:p xmlns:a="http://schemas.openxmlformats.org/drawingml/2006/main">
            <a:r>
              <a:t>- D:/code/geo-evolution-project/outputs/g0-01/GEO_OS_G0-01_Authority_Change_Control_ADR-001_V1.0.docx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Note]</a:t>
            </a:r>
          </a:p>
          <a:p xmlns:a="http://schemas.openxmlformats.org/drawingml/2006/main">
            <a:r>
              <a:t>必须明确披露当前未批准冻结的事实，避免领导把评审材料误解为已关闭 Gate。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D:/三合星链/技术组/v2/项目文档/整体设计/GEO_OS_产品方案定稿版_V1.0.docx</a:t>
            </a:r>
          </a:p>
          <a:p xmlns:a="http://schemas.openxmlformats.org/drawingml/2006/main">
            <a:r>
              <a:t>- D:/三合星链/技术组/v2/项目文档/整体设计/GEO_OS_需求方案定稿版_V1.0.docx</a:t>
            </a:r>
          </a:p>
          <a:p xmlns:a="http://schemas.openxmlformats.org/drawingml/2006/main">
            <a:r>
              <a:t>- D:/code/geo-evolution-project/docs/architecture/GEO_OS_Technical_Architecture_Reconciliation_V1.1.docx</a:t>
            </a:r>
          </a:p>
          <a:p xmlns:a="http://schemas.openxmlformats.org/drawingml/2006/main">
            <a:r>
              <a:t>- D:/code/geo-evolution-project/outputs/g0-01/GEO_OS_G0-01_Authority_Change_Control_ADR-001_V1.0.docx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Note]</a:t>
            </a:r>
          </a:p>
          <a:p xmlns:a="http://schemas.openxmlformats.org/drawingml/2006/main">
            <a:r>
              <a:t>逐项记录 YES / NO / DEFERRED、负责人和日期；会后形成可追溯的 Decision Record。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dd73939f474af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dc7bb7fd73e4c77" /><Relationship Type="http://schemas.openxmlformats.org/officeDocument/2006/relationships/slideLayout" Target="/ppt/slideLayouts/slideLayout1.xml" Id="R698d86bbd7c542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98d86bbd7c542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f65419e3d04220" /><Relationship Type="http://schemas.openxmlformats.org/officeDocument/2006/relationships/notesSlide" Target="/ppt/notesSlides/notesSlide1.xml" Id="Ra96c6baa45db495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4a46c53819468b" /><Relationship Type="http://schemas.openxmlformats.org/officeDocument/2006/relationships/notesSlide" Target="/ppt/notesSlides/notesSlide2.xml" Id="R2890179fe6b24a7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b95544450a40c7" /><Relationship Type="http://schemas.openxmlformats.org/officeDocument/2006/relationships/notesSlide" Target="/ppt/notesSlides/notesSlide3.xml" Id="Rd3df4c1869c74b3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cea7ace2cb43b4" /><Relationship Type="http://schemas.openxmlformats.org/officeDocument/2006/relationships/notesSlide" Target="/ppt/notesSlides/notesSlide4.xml" Id="R093ae435687e423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2e5cdbbf1b426c" /><Relationship Type="http://schemas.openxmlformats.org/officeDocument/2006/relationships/notesSlide" Target="/ppt/notesSlides/notesSlide5.xml" Id="R8bfa2fdcca47485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3e089095cc43f0" /><Relationship Type="http://schemas.openxmlformats.org/officeDocument/2006/relationships/notesSlide" Target="/ppt/notesSlides/notesSlide6.xml" Id="R8027af2ae080400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efe1c1e2fc420b" /><Relationship Type="http://schemas.openxmlformats.org/officeDocument/2006/relationships/notesSlide" Target="/ppt/notesSlides/notesSlide7.xml" Id="Rde5c48cb5eee49d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212d1e711e4ede" /><Relationship Type="http://schemas.openxmlformats.org/officeDocument/2006/relationships/notesSlide" Target="/ppt/notesSlides/notesSlide8.xml" Id="R7e026f50e8024ef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bf8bc3ebfb498c" /><Relationship Type="http://schemas.openxmlformats.org/officeDocument/2006/relationships/notesSlide" Target="/ppt/notesSlides/notesSlide9.xml" Id="Rd16985bef75e418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5208ebc61e4b02" /><Relationship Type="http://schemas.openxmlformats.org/officeDocument/2006/relationships/notesSlide" Target="/ppt/notesSlides/notesSlide10.xml" Id="R8193933b2147484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5825c05fcd4d87" /><Relationship Type="http://schemas.openxmlformats.org/officeDocument/2006/relationships/notesSlide" Target="/ppt/notesSlides/notesSlide11.xml" Id="R848368e14d5b4ba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074ee55f104b5c" /><Relationship Type="http://schemas.openxmlformats.org/officeDocument/2006/relationships/notesSlide" Target="/ppt/notesSlides/notesSlide12.xml" Id="Rb5f33efbdfbf44d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CAE8BA-22EB-4C9E-BEB7-B0E1BD3A7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8D4C9B-CC79-48D1-9CB8-10953327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GEO OS / PRODUCT DIRECTION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7AC20D-51A4-4C0C-B237-19B0334F2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9429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GEO OS 产品方向与</a:t>
            </a:r>
          </a:p>
          <a:p xmlns:a="http://schemas.openxmlformats.org/drawingml/2006/main">
            <a:pPr algn="l">
              <a:defRPr sz="4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Commercial MVP 决策汇报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8F4F6A-BDFB-4A11-BEF4-D69AEA62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14800"/>
            <a:ext cx="819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rPr>
              <a:t>产品形态、商业闭环、MVP 边界与待决策事项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378E2F-E503-4B82-BBA3-AD0DAECD9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006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7AC986-1143-46D9-B768-1932A413F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959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2026.08  |  产品方向评审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D47A1E-A274-4B09-AA4C-7D77E4F0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238750"/>
            <a:ext cx="19431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A54D3A-6727-445C-A2DE-14CD35064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295900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5D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5DAD"/>
                </a:solidFill>
                <a:latin typeface="Microsoft YaHei"/>
                <a:ea typeface="Microsoft YaHei"/>
                <a:cs typeface="Microsoft YaHei"/>
              </a:rPr>
              <a:t>DECISION DECK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C969F8-0EF5-4E11-843A-18F13696E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B8B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B8B8B"/>
                </a:solidFill>
                <a:latin typeface="Microsoft YaHei"/>
                <a:ea typeface="Microsoft YaHei"/>
                <a:cs typeface="Microsoft YaHei"/>
              </a:rPr>
              <a:t>内部决策材料</a:t>
            </a:r>
          </a:p>
        </p:txBody>
      </p:sp>
    </p:spTree>
    <p:extLst>
      <p:ext uri="{BB962C8B-B14F-4D97-AF65-F5344CB8AC3E}">
        <p14:creationId xmlns:p14="http://schemas.microsoft.com/office/powerpoint/2010/main" val="19874623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C22E22-EB49-4188-8038-C422AE0F5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EXECUTIVE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670E80-0B28-4D6D-9441-E57DD2344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方向已经明确：先证明一个客户闭环可重复，再扩平台与商业模式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C47FED-2B85-4BCC-BFAC-9A0497DC8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212362-8945-4616-A3A6-0676E0484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341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8B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B8B8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B77E6C-CE09-4481-A611-2B7C3473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85925"/>
            <a:ext cx="1123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GEO OS 是面向企业与受控第三方的 Managed SaaS：真实观测 AI 决策过程，形成可解释、可行动、可复测的业务闭环。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CE21CE-909C-40BB-9738-F63102EE0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33700"/>
            <a:ext cx="34290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B9FECB-3D64-4908-BBC2-4B266A3F3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产品定位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F20E60-AAA0-4516-B06F-CAB461ED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62350"/>
            <a:ext cx="3009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企业业务操作系统</a:t>
            </a:r>
          </a:p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不是单点监测工具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889086-0073-495B-86D2-0B614459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933700"/>
            <a:ext cx="34290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11F08E-1A16-48DD-A21B-48900D0CA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432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数据基础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2010D9-6579-495C-BF40-F919581C8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62350"/>
            <a:ext cx="3009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真实 AI 端面观测</a:t>
            </a:r>
          </a:p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不是模拟问答数据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C3D9DE-7358-4E9E-80CC-54A90C6E1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33700"/>
            <a:ext cx="34290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B59D22-4620-4373-8C3E-5DA2516C6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432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渠道边界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4DED81-9E40-4F58-8B6E-49D49E46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562350"/>
            <a:ext cx="3009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受控第三方工作区</a:t>
            </a:r>
          </a:p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不是开放代理平台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B68612-73E4-4564-9C33-49F68F0E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0"/>
            <a:ext cx="110109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513A76-5590-46E1-A629-BABAC547D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rPr>
              <a:t>本次请确认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7C9F38-7E17-4954-969C-6E382588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12445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Intelligence / Intervention / Publisher / 正式 KPI 的 Commercial MVP 边界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D239AA-2038-46A1-B958-49BFEA141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543550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rPr>
              <a:t>建议：批准产品方向；范围契约仍按 Gate 0 正式关闭机制推进。</a:t>
            </a:r>
          </a:p>
        </p:txBody>
      </p:sp>
    </p:spTree>
    <p:extLst>
      <p:ext uri="{BB962C8B-B14F-4D97-AF65-F5344CB8AC3E}">
        <p14:creationId xmlns:p14="http://schemas.microsoft.com/office/powerpoint/2010/main" val="10825475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011883-7051-4E37-9CCB-526632D5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WHY NOW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5DD345-51A8-44C6-8393-21E34912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82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客户需要的不是“AI 提到没有”，而是可解释、可行动、可复测的增长闭环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E95337-182E-4397-A9C7-FF90FAA4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6930CA-6B50-4746-8131-9D535B3BF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341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8B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B8B8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8DB01A-5D39-46F4-96B1-79B809A94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716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B8B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B8B8B"/>
                </a:solidFill>
                <a:latin typeface="Microsoft YaHei"/>
                <a:ea typeface="Microsoft YaHei"/>
                <a:cs typeface="Microsoft YaHei"/>
              </a:rPr>
              <a:t>旧方式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93AF48-A17E-41B9-96A2-C69F5F1BB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716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目标方式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53174E-B810-4FE6-8258-741260768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52650"/>
            <a:ext cx="52006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6B5F02-5001-435E-8664-067F869B4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52650"/>
            <a:ext cx="52768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F45466-FF7B-4A29-9B21-A79ED0E6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B8B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B8B8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321F62-DE2F-4D87-884D-3C9063D0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384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rPr>
              <a:t>人工抽查，样本不可复现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559C08-2A4C-492E-80A5-8666836F4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B8B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B8B8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53734E-CC2C-4C1B-925C-4ED635F0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480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rPr>
              <a:t>只看 Mention，无法解释原因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1346B5-3A03-4A60-A9DC-15DB74765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95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B8B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B8B8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0F19BC-58BC-4519-820C-C7E67EAE9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576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rPr>
              <a:t>监测、内容、复测彼此割裂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A05E29-AF4C-4C53-AB65-069DB46EE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B8B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B8B8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0542DE-9BA0-42D6-BB28-489E837E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672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rPr>
              <a:t>交付依赖个人经验，难规模化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60407A-68B3-45F5-B350-DB0841545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765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3AF265-7467-4E70-98A2-3BB947B0E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38400"/>
            <a:ext cx="417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真实观测，保留证据与上下文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DD8EC4-4584-42D6-A444-9A402D8CB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861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D84127-CDBD-4E01-86D7-08E022B6A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048000"/>
            <a:ext cx="417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测量 + 诊断，识别差距与根因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D5A7DD-EED5-45AF-BF94-CDE0FC04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95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3713BE-3A9C-4F28-B6CF-B7902620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657600"/>
            <a:ext cx="417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干预进入任务，复测验证效果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7DD3B3-7127-4B2C-BC96-F65B7819F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05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11DE5A-374B-49AF-9852-26B986E7A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67200"/>
            <a:ext cx="417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快照与规则可追溯，形成可重复交付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195E5F-1CDD-4F12-ABE4-0CFC6C64D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1101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从“结果截图”升级为“决策证据链”</a:t>
            </a:r>
          </a:p>
        </p:txBody>
      </p:sp>
    </p:spTree>
    <p:extLst>
      <p:ext uri="{BB962C8B-B14F-4D97-AF65-F5344CB8AC3E}">
        <p14:creationId xmlns:p14="http://schemas.microsoft.com/office/powerpoint/2010/main" val="5207931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04CFB6-C8EE-4DE6-A3CE-12D1B6680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PRODUCT SHAPE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23EDF8-4D86-498C-8795-5E52E5F05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763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产品形态是“企业工作台 + 真实观测网络 + 数据决策引擎 + 专业服务”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8E6CB9-6AC3-4F99-A901-E864C3E4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33C231-CE7F-4D94-B6EE-0D4DCBE47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341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8B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B8B8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DB802E-BA18-4E7F-8394-CF60AAFA6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03060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B7B7EC-1C8D-493A-A25C-D72E7FE20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145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265C86-A603-43BF-BDA3-4660D5B0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66925"/>
            <a:ext cx="461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企业工作台 / Control Plane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D41578-6863-4A27-8DF7-53C150C85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客户、品牌、项目、需求、报告与权限管理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D3437E-80D4-4348-9559-45CBC63D7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10039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F52CA8-1535-490F-B29B-FC45F0FB7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289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998AC7-C4FB-4BE6-A708-C098B00C8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981325"/>
            <a:ext cx="461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真实 AI 端面观测 / Query Engine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E5502F-4514-4C5C-A6B8-AFA2210B4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09900"/>
            <a:ext cx="430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真实 Web AI 端面执行、证据留存、可重放观测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4FB43C-AFB1-4CD1-A7A9-F59E17F9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71900"/>
            <a:ext cx="97726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0E02C0-C986-4F17-A7A8-2178333C1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433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84C512-10C2-45FF-90B4-7C31D93F1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895725"/>
            <a:ext cx="461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数据决策与任务引擎 / AI &amp; Data Worker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D890C0-C4CC-40EC-8A95-C334094D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24300"/>
            <a:ext cx="413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抽取、测量、诊断、快照、干预任务与效果验证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187E55-22CC-44E9-8694-9D0D4EC1F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86300"/>
            <a:ext cx="95059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B62464-495B-4D00-991F-923710DB9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577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9AFAF9-80DD-4B25-A46F-A69692DAF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10125"/>
            <a:ext cx="461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GEO 专业服务与行业规则 / Managed Service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0F3229-D88E-4EE6-B1C7-83C0FD1E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3870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D5D5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5D5D5"/>
                </a:solidFill>
                <a:latin typeface="Microsoft YaHei"/>
                <a:ea typeface="Microsoft YaHei"/>
                <a:cs typeface="Microsoft YaHei"/>
              </a:rPr>
              <a:t>行业规则、策略判断、交付运营与客户成功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4C9CFC-A2A0-403D-B9E2-5CFCC8FD0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38300"/>
            <a:ext cx="17145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6F5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A46970-29E5-4356-93D7-B8E817EB1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6954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7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47D64"/>
                </a:solidFill>
                <a:latin typeface="Microsoft YaHei"/>
                <a:ea typeface="Microsoft YaHei"/>
                <a:cs typeface="Microsoft YaHei"/>
              </a:rPr>
              <a:t>Managed SaaS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6713BB-C04D-4454-B16F-31FD20CA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V1 的竞争单元不是一个页面，而是一套可交付、可审计的业务闭环。</a:t>
            </a:r>
          </a:p>
        </p:txBody>
      </p:sp>
    </p:spTree>
    <p:extLst>
      <p:ext uri="{BB962C8B-B14F-4D97-AF65-F5344CB8AC3E}">
        <p14:creationId xmlns:p14="http://schemas.microsoft.com/office/powerpoint/2010/main" val="15555601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9C3F17-77DF-4283-93CA-8EC82084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USERS &amp; JOBS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3183AC-B8CF-4845-ADA8-5342D1EB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同一平台服务交付团队、策略团队、管理层与受控第三方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898068-19CD-4374-A07E-D56293A8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EA66E4-BC2A-482D-91CE-BF8BC6ECD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341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8B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B8B8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821E67-7EC0-4A0E-9130-08128B8D5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617EBA-4D1A-4A37-959D-6B04C099E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717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交付 / 运营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E98824-FFF1-4D4D-8E2A-B8FA93C5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28900"/>
            <a:ext cx="2362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85E3D6-FA4F-4A7B-B628-20DBAC06A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0"/>
            <a:ext cx="2362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rPr>
              <a:t>建项目、跑观测、处理异常、交付报告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252EC2-1C03-4CE1-A8B8-7B276216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48150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标准化交付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404BDC-C8E2-437E-8D49-387561409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47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4090EC-BBAB-4BE0-9A6B-751DE1691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717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策略 / 分析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69A9EE-F01B-4914-B50C-587A90DE5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628900"/>
            <a:ext cx="2362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B226BF-3B0F-430D-8807-E786AC434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857500"/>
            <a:ext cx="2362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rPr>
              <a:t>诊断差距、提出干预、判断复测效果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1646E2-0647-4FB2-82F5-75AC2AB7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248150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证据化决策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4D4681-E65C-43B0-8531-22BF999E9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847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32A0B8-E496-49CD-ABB4-0B3FED51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717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管理层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BEC4F8-ACA1-4945-A08E-D2997FFEA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628900"/>
            <a:ext cx="2362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C3BB86-029D-4A87-9901-6D76013C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857500"/>
            <a:ext cx="2362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rPr>
              <a:t>看客户价值、资源效率、风险与进度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E9CAD0-4B7C-4E56-9AFB-C742019B5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248150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可经营透明度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24C21B-723E-4730-B664-2346E41F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47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6990B0-BA79-4D45-AD47-9C38E4576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717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第三方工作区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5270F6-9126-43E4-A444-6E1D31C9F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28900"/>
            <a:ext cx="2362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3B536E-2D15-4A3B-ABBF-C7F4C41B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57500"/>
            <a:ext cx="2362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rPr>
              <a:t>管理自有客户、品牌与项目，边界内协作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17FB3D-F9FC-4442-9A9B-378175D51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48150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7D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7D64"/>
                </a:solidFill>
                <a:latin typeface="Microsoft YaHei"/>
                <a:ea typeface="Microsoft YaHei"/>
                <a:cs typeface="Microsoft YaHei"/>
              </a:rPr>
              <a:t>渠道可扩展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7F48E4-E689-462D-9730-CF4838043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0"/>
            <a:ext cx="1076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047709-8931-4B3F-A846-697550CA9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983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98300"/>
                </a:solidFill>
                <a:latin typeface="Microsoft YaHei"/>
                <a:ea typeface="Microsoft YaHei"/>
                <a:cs typeface="Microsoft YaHei"/>
              </a:rPr>
              <a:t>V1 渠道边界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A4D00B-56B5-40E8-8943-15AEDD21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200650"/>
            <a:ext cx="845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受控开通、只管理自有客户；不含自助注册、代理层级、白标、计费与开放 API。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9B8A8F-B721-4986-A3DF-EC6F30348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553075"/>
            <a:ext cx="845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客户侧只读授权访问可作为 P1，不阻塞首条闭环。</a:t>
            </a:r>
          </a:p>
        </p:txBody>
      </p:sp>
    </p:spTree>
    <p:extLst>
      <p:ext uri="{BB962C8B-B14F-4D97-AF65-F5344CB8AC3E}">
        <p14:creationId xmlns:p14="http://schemas.microsoft.com/office/powerpoint/2010/main" val="20919839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DA06D21-ADBD-4BF9-BCE4-C07C3DFE6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CORE CUSTOMER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CFEA23-8D3E-41E6-B71D-6A7C1F302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一个客户闭环是产品成立的最小单元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1FBF58-F616-42F7-8E43-6C78715B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EEDB53-C030-46E2-AE09-B8AD21E68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341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8B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B8B8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40E017-D383-48A3-987B-0ED114EF8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133725"/>
            <a:ext cx="11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9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F368AE-1CC7-4F31-BD6B-162DAFC2E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133725"/>
            <a:ext cx="11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9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128EEB-F761-41F6-8658-F68EEC1C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33725"/>
            <a:ext cx="11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9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731BAC-22C2-4C8B-BC10-A89AFEF47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133725"/>
            <a:ext cx="11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9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AD1660-BCF0-48EB-B876-1585FC2F0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33725"/>
            <a:ext cx="11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9A50B7-301F-42DA-8B68-893B96B3B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33725"/>
            <a:ext cx="11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BF4E3B-817C-4BE3-9EC8-977DC2A3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133725"/>
            <a:ext cx="11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4076CD-7AB2-4874-8161-720DAC23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43200"/>
            <a:ext cx="12573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9287DB-3010-412B-8D8A-8753D48F3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09875"/>
            <a:ext cx="1104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建档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3C5967-2769-41D6-B14F-77B56FAC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0030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B8B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B8B8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6FE267-6EEF-411B-B738-42317A52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743200"/>
            <a:ext cx="12573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AF47E8-74A0-432C-88D4-E347B4312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809875"/>
            <a:ext cx="1104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需求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C0AEA1-3DF3-45A1-8E87-7939CDBBC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40030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B8B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B8B8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8DE559-6541-47DB-AEDB-9CF2CBFC9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743200"/>
            <a:ext cx="12573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97C0E8-6E9C-4273-A73E-999F86640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809875"/>
            <a:ext cx="1104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品牌事实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FB967C-FA40-45C2-9D86-1C6CAAD74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40030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B8B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B8B8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A00CD4-73BB-406D-821F-3239ED3E8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43200"/>
            <a:ext cx="12573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D1A17F-B662-4232-AA36-7E265C06C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09875"/>
            <a:ext cx="1104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真实观测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B3F4A4-8CFC-4EDB-8381-7E6C5E1C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0030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B8B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B8B8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157BAE-8794-4B22-BAA2-3BA2E6D6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743200"/>
            <a:ext cx="12573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B13365-59F5-4682-B5F4-FDD43DF24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09875"/>
            <a:ext cx="1104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测量 / 诊断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04D125-FDCC-46CF-AD05-A10CE1498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40030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B255A0-1646-4C46-BA77-9363450FA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43200"/>
            <a:ext cx="12573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25ECFD-037D-4E66-B699-D5DC2E1D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809875"/>
            <a:ext cx="1104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干预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310BD0-1958-417D-9113-245CEB39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0030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D06E4F-A5A2-4376-AC9E-20DD092AC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743200"/>
            <a:ext cx="12573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F02DB3-1D50-44A5-A640-6A1DCD6D2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809875"/>
            <a:ext cx="1104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复测 / 证据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C8C6DA-9756-4B88-A3E0-4B756B0A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0030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BC190D-36ED-4632-9B30-E5159161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743200"/>
            <a:ext cx="12573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D7F9996-8D05-4383-903B-20671C76A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809875"/>
            <a:ext cx="1104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报告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95AB09-1ECA-4182-BE1F-7F745A4C2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40030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1EC41B4-C46E-4F38-B441-16BAF2681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57400"/>
            <a:ext cx="537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事实链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0641F80-509A-4196-9307-821440E1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57400"/>
            <a:ext cx="537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决策与价值链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B584314-01F4-4DE1-AD6A-A52A66DCD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71950"/>
            <a:ext cx="108966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F804203-468B-4C8C-9E85-2527813E9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rPr>
              <a:t>闭环成立的判据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8DE6898-FD0F-452B-A86C-F8470C1A1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同一客户、同一规则版本下，能够从原始观测追溯到判断、动作、复测与报告。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33E3607-AED9-4079-B9B2-A28FE94BF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0"/>
            <a:ext cx="1089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不是“所有模块都做完”，而是“最危险的主链先跑通”。</a:t>
            </a:r>
          </a:p>
        </p:txBody>
      </p:sp>
    </p:spTree>
    <p:extLst>
      <p:ext uri="{BB962C8B-B14F-4D97-AF65-F5344CB8AC3E}">
        <p14:creationId xmlns:p14="http://schemas.microsoft.com/office/powerpoint/2010/main" val="15028577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0DE28A3-5852-4DD0-8608-FD33DF45C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DIFFERENTIATION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E2603F-763A-4879-A67F-D23F67356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长期壁垒来自连续决策证据，而不是问题量或文章量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9D15FB-5EDC-4849-A62E-081CAAB76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763933-734E-4C8C-8752-D6CA8A205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341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8B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B8B8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E2CD32-2BC4-4DC9-823F-1938E2D6A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可积累的数据资产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D5AC0F-23D7-42D1-A07E-878566F36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09850"/>
            <a:ext cx="15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043DA0-1CBD-4CA0-ACC8-6B559F72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1209675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7FEBE7-FC87-4EB8-B7BD-173BEDB8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66975"/>
            <a:ext cx="1057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行业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591FED-2ADD-4116-953A-8BA83D6C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09850"/>
            <a:ext cx="15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88E318-2C2A-4EEB-913E-959D9AD6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400300"/>
            <a:ext cx="1209675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356FE8-D01D-43D7-9AA7-69DEAE0B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466975"/>
            <a:ext cx="1057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需求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7D4A9F-E046-4EF7-8E41-59E444307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09850"/>
            <a:ext cx="15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16703E-FC81-4011-97C1-095A8352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400300"/>
            <a:ext cx="1209675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A37F08-41FD-4133-AA4E-9F0412AD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466975"/>
            <a:ext cx="1057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AI 端面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2E0BA0-D291-4A43-9A77-0D989C86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609850"/>
            <a:ext cx="15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9A8591-D695-4018-B6DA-86CE7C577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00300"/>
            <a:ext cx="1209675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4CA4BC-5A9E-4202-A4EF-0ED820BF5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66975"/>
            <a:ext cx="1057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信源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2F2C45-6EEB-49E1-A9E8-D8A601477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609850"/>
            <a:ext cx="15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D3B6EA-1C70-4B6A-B901-A4F599043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00300"/>
            <a:ext cx="1209675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9BF976-5971-48DC-90C8-117BA73B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466975"/>
            <a:ext cx="1057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品牌事实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10AE51-2DEB-492E-AC53-315FA10B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609850"/>
            <a:ext cx="15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8346FB-3740-41F3-80E7-C3A111751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400300"/>
            <a:ext cx="1209675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968990-7714-4240-A321-CB12A0607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466975"/>
            <a:ext cx="1057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根因假设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5D54F8-F524-4EDA-B6BE-DEB8770F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609850"/>
            <a:ext cx="15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C2A178-D5D7-428A-97F4-497728CF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00300"/>
            <a:ext cx="1209675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7089C7-EB7A-4556-A8EB-CA6A89A2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66975"/>
            <a:ext cx="1057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干预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33E47D-1D01-4F17-BBAC-7D6EED81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400300"/>
            <a:ext cx="1209675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626656-A4A6-43A4-A3F5-F43710965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466975"/>
            <a:ext cx="1057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观测效果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F7648D-FC35-4851-BD7C-B5FF2827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00450"/>
            <a:ext cx="10858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ECA38A-F5F0-4E2B-AE0D-550354D2A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65D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5DAD"/>
                </a:solidFill>
                <a:latin typeface="Microsoft YaHei"/>
                <a:ea typeface="Microsoft YaHei"/>
                <a:cs typeface="Microsoft YaHei"/>
              </a:rPr>
              <a:t>每次观测与干预，都为下一次策略判断提供可复用的行业证据。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A3DD2C-A36B-403D-B945-1A9DAB6D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768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B8B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8B8B8B"/>
                </a:solidFill>
                <a:latin typeface="Microsoft YaHei"/>
                <a:ea typeface="Microsoft YaHei"/>
                <a:cs typeface="Microsoft YaHei"/>
              </a:rPr>
              <a:t>不构成壁垒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38E0AF-5FEA-4DDC-94D5-2252E95A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19650"/>
            <a:ext cx="704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更多问题数  /  更多文章数  /  更花哨的监测看板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61A58A-1828-4E32-B796-C37F1F838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81965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83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98300"/>
                </a:solidFill>
                <a:latin typeface="Microsoft YaHei"/>
                <a:ea typeface="Microsoft YaHei"/>
                <a:cs typeface="Microsoft YaHei"/>
              </a:rPr>
              <a:t>可被复制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AF7F8AE-21FA-422F-9B1D-EC9AE6DBD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435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2D76373-BE49-45BE-AEBE-71B017B84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6260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真正不可替代：有版本、有上下文、有复测结果的决策证据链。</a:t>
            </a:r>
          </a:p>
        </p:txBody>
      </p:sp>
    </p:spTree>
    <p:extLst>
      <p:ext uri="{BB962C8B-B14F-4D97-AF65-F5344CB8AC3E}">
        <p14:creationId xmlns:p14="http://schemas.microsoft.com/office/powerpoint/2010/main" val="10862143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366710-BDCD-45F4-8305-7577CC554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COMMERCIAL MVP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D780D7-B592-468B-96C1-A0580EE10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Commercial MVP：完整代码闭环 + 单行业最小规则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A03F77-EE36-4053-AADD-D5B38E38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7EBDB9-82AC-45DC-A3A2-F48824D91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341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8B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B8B8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AC3E0B-195B-4374-94F7-365F9080D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5257800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3C538C-8D61-41E3-8A1C-7ED98C638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714500"/>
            <a:ext cx="5486400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F40BD9-1EC1-40B3-B8BF-A5E2C9E2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621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5D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5DAD"/>
                </a:solidFill>
                <a:latin typeface="Microsoft YaHei"/>
                <a:ea typeface="Microsoft YaHei"/>
                <a:cs typeface="Microsoft YaHei"/>
              </a:rPr>
              <a:t>IN — 必须证明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A1BB82-26DD-476B-9D8D-2F32BD985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完整代码能力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A42E66-78D5-4200-9A75-1D4820D8A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33700"/>
            <a:ext cx="464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rPr>
              <a:t>✓  1–3 个试点客户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900F5F-0594-4DEA-9A7E-6D1E036C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43275"/>
            <a:ext cx="464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rPr>
              <a:t>✓  1–2 个锚点行业 + 1 个影子行业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CE9932-A2B9-4763-A085-58D681B9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464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rPr>
              <a:t>✓  2–3 个 Web AI 端面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95A65E-A966-4D14-9F4F-89CFDBB27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62425"/>
            <a:ext cx="464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rPr>
              <a:t>✓  观测 → 诊断 → 干预 → 复测 → 报告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153F77-D9DC-48D6-ABDE-F6D5BDC3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464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rPr>
              <a:t>✓  一个行业的最小冻结口径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D54CED-DE85-4C04-BAF4-D8E0272A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621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OUT / DEFERRED — 不阻塞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5FDD3B-5716-488F-92EA-A5CD65A48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8125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规则广度与平台扩张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EEEAE6-B732-48B7-8478-4F691BB70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337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rPr>
              <a:t>—  覆盖 100 个行业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97D108-B8ED-47FB-B331-B875628AF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3432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rPr>
              <a:t>—  移动端生产化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5892EA-21BB-4C40-A203-532A2CD8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528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rPr>
              <a:t>—  Publisher 自动化作为上线门禁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F22B2F-56D5-46E1-BA03-1056AA3B1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624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rPr>
              <a:t>—  严格因果归因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A15E52-4DAF-4722-9072-EE6AED9F1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720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rPr>
              <a:t>—  自助注册 / 白标 / 计费 / 开放 API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C291BC-9774-41D5-BCC5-0FB6E4B51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62600"/>
            <a:ext cx="11010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22353F-978F-4144-BE04-390F7558B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原则：代码路径先正确、接口先可扩展；规则覆盖按行业逐步补齐。</a:t>
            </a:r>
          </a:p>
        </p:txBody>
      </p:sp>
    </p:spTree>
    <p:extLst>
      <p:ext uri="{BB962C8B-B14F-4D97-AF65-F5344CB8AC3E}">
        <p14:creationId xmlns:p14="http://schemas.microsoft.com/office/powerpoint/2010/main" val="10597143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508CAB-78B4-45C8-B24E-7F547BE3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COMMERCIAL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630083-067C-45E5-B8EC-468CAF626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当前收入形态是 Managed SaaS，平台化收入分阶段打开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C13C17-CB34-454E-BD3D-FA0EF7CBA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1A88DC-C074-4959-8515-856F5680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341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8B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B8B8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717608-EBE4-4ADA-A3C5-6247D897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0"/>
            <a:ext cx="2400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F0929C-8457-46A3-A674-90F604A8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7675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rPr>
              <a:t>01 / NOW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1973CF-139C-4BD9-92AF-BE0FDAE83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10125"/>
            <a:ext cx="2019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GEO Growth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39C292-E2C5-4843-B0C8-207766F64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29225"/>
            <a:ext cx="2019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2D2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2D2D2"/>
                </a:solidFill>
                <a:latin typeface="Microsoft YaHei"/>
                <a:ea typeface="Microsoft YaHei"/>
                <a:cs typeface="Microsoft YaHei"/>
              </a:rPr>
              <a:t>年度托管服务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A36ACC-0779-4283-9A1D-341261429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524250"/>
            <a:ext cx="24003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E75345-8599-46FC-A0B8-DA717194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71475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 / MID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428EFD-F290-4ED6-A126-22B5EB5E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048125"/>
            <a:ext cx="2019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Enterprise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1FA0D5-51A0-44B4-A3DF-378AC22E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467225"/>
            <a:ext cx="2019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多品牌、治理、规模交付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AD115C-0030-4C39-8627-7FA3B9946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43200"/>
            <a:ext cx="24003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E12B9A-1EF4-4DDE-8D20-587038022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3370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 / LATER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1C13FC-0F42-4B30-9CAA-9FDDD6FC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67075"/>
            <a:ext cx="2019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Agency / API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F20014-47BC-4856-A98E-8F33A9F1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86175"/>
            <a:ext cx="2019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渠道与系统集成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359F64-AE31-459B-9CF1-48042D3D2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62150"/>
            <a:ext cx="24003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41DA7D-E965-4345-9605-6BA2C5C69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15265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04 / LONG TERM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B9DEBA-97A9-4DDD-971A-D615CBB98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486025"/>
            <a:ext cx="2019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Data Product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9DA18E-F5BD-416A-9311-CB16E076A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905125"/>
            <a:ext cx="2019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行业基准与情报产品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CF75A8-D190-4104-BBAA-4506B38A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先把单位客户闭环做稳，再把组织、渠道和数据杠杆依次打开。</a:t>
            </a:r>
          </a:p>
        </p:txBody>
      </p:sp>
    </p:spTree>
    <p:extLst>
      <p:ext uri="{BB962C8B-B14F-4D97-AF65-F5344CB8AC3E}">
        <p14:creationId xmlns:p14="http://schemas.microsoft.com/office/powerpoint/2010/main" val="19778178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F36E4D-B6E7-452C-B769-69BFA68FB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SUCCESS MEASURES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F97583-E8E8-414B-8F4A-653A4B5FA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产品成功必须同时证明客户价值、交付效率和数据可信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A4D926-73EA-4DDD-80AE-0EA40EC03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79F709-4896-4FD1-A251-B2882FFDF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341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8B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B8B8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080F3C-0F13-4172-B49E-1F1535C7E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076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三个维度缺一不可；单看 Query 数量或内容产量，会把团队带向错误优化。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458C58-3206-4CD0-91F5-DE9FA8533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19350"/>
            <a:ext cx="33528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07427F-1938-43B0-9C2A-B942E45EC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客户价值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9C25A0-124A-4AC8-98E2-8F1E9436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VALUE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196439-7676-44C6-9882-471B114C3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289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9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8C09A9-13F9-44E0-9252-B34FDCD92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28956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rPr>
              <a:t>• 可行动差距</a:t>
            </a:r>
          </a:p>
          <a:p xmlns:a="http://schemas.openxmlformats.org/drawingml/2006/main">
            <a:pPr algn="l">
              <a:defRPr sz="1425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rPr>
              <a:t>• 复测结果可解释</a:t>
            </a:r>
          </a:p>
          <a:p xmlns:a="http://schemas.openxmlformats.org/drawingml/2006/main">
            <a:pPr algn="l">
              <a:defRPr sz="1425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rPr>
              <a:t>• 试点续约 / 扩单信号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40F59E-73F1-4023-9690-29B96DF7C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19350"/>
            <a:ext cx="33528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AD9102-4043-4468-B7BF-FC754E5B9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479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交付效率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285CEB-6135-4271-8681-22E77577C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051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SCALE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C6693B-AB85-43A1-B1CE-A3DA4BB85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810000"/>
            <a:ext cx="289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9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FF7A09-90A3-4618-99F8-D917FB6CC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38600"/>
            <a:ext cx="28956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rPr>
              <a:t>• 单客户工时</a:t>
            </a:r>
          </a:p>
          <a:p xmlns:a="http://schemas.openxmlformats.org/drawingml/2006/main">
            <a:pPr algn="l">
              <a:defRPr sz="1425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rPr>
              <a:t>• 单运营可服务客户数</a:t>
            </a:r>
          </a:p>
          <a:p xmlns:a="http://schemas.openxmlformats.org/drawingml/2006/main">
            <a:pPr algn="l">
              <a:defRPr sz="1425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rPr>
              <a:t>• 自动化率与毛利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2204A1-F946-40E7-9887-57A37919F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33528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1D1CAF-FC17-422C-B9E5-449038C72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479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数据可信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C0DCFB-BF89-45ED-9E88-7D5064AC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051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TRUST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6E0411-EE18-49B2-BF20-1CCBBAA2A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810000"/>
            <a:ext cx="289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DCBF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DA8F49-95D7-49F3-95D1-163D9A821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38600"/>
            <a:ext cx="28956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rPr>
              <a:t>• 有效观测覆盖</a:t>
            </a:r>
          </a:p>
          <a:p xmlns:a="http://schemas.openxmlformats.org/drawingml/2006/main">
            <a:pPr algn="l">
              <a:defRPr sz="1425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rPr>
              <a:t>• 全链路可追溯</a:t>
            </a:r>
          </a:p>
          <a:p xmlns:a="http://schemas.openxmlformats.org/drawingml/2006/main">
            <a:pPr algn="l">
              <a:defRPr sz="1425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rPr>
              <a:t>• 快照可复现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83E525-0EBE-4F85-A135-BD9E7221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769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83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98300"/>
                </a:solidFill>
                <a:latin typeface="Microsoft YaHei"/>
                <a:ea typeface="Microsoft YaHei"/>
                <a:cs typeface="Microsoft YaHei"/>
              </a:rPr>
              <a:t>不是核心 KPI：问题数、文章数、纯 Mention 排名。</a:t>
            </a:r>
          </a:p>
        </p:txBody>
      </p:sp>
    </p:spTree>
    <p:extLst>
      <p:ext uri="{BB962C8B-B14F-4D97-AF65-F5344CB8AC3E}">
        <p14:creationId xmlns:p14="http://schemas.microsoft.com/office/powerpoint/2010/main" val="65379580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0698B82-43D1-4F82-B86B-764200DE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CURRENT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7C5E2D-25F8-4A64-B674-01BF9EE2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架构已批准启动，但产品范围仍受 Gate 0 正式评审约束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474849-DCA6-4156-B6FC-A69453FB3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AD714C-E2F4-4C99-A4EF-4F35C812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341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8B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B8B8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634DBC-76AA-4433-A956-4ACDDFFF0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4320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9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A4D074-3690-4EB8-9D93-F472B69A6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193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965D79-20F0-4C7B-9A68-FDE7AC8D1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33600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88406B-32CC-4891-8B29-6B7E33DB4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05150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方向基线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2AF122-6318-4ADC-9864-7638FA5D3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已冻结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330FC9-3BEF-4501-ABAF-C5268B1D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6193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EAE702-5939-404B-A263-EB3E583D9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33600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A60CFC-32DB-4994-BD97-9F9AA7F70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105150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架构 V1.1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ECAC6A-EB8B-4859-90A5-ABFF6258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486150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批准启动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C7B011-2878-4341-A000-BE05EA874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6193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4FCADA-51F1-4BD7-92D0-C24B13180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133600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3B3EE4-DC50-4853-A022-4FA11E09D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105150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G0-01 材料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CDA34F-45E6-4762-998D-C048F2E61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486150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材料完备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48D282-16E9-4112-90B9-D2ECDB43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193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0D0BAF-E809-41D3-91D7-644D9686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33600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983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9830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CE35F0-C5A8-4CB3-AEDA-C2DBA05AF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105150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正式评审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C258B4-3550-43E9-B5E0-970F9258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486150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983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98300"/>
                </a:solidFill>
                <a:latin typeface="Microsoft YaHei"/>
                <a:ea typeface="Microsoft YaHei"/>
                <a:cs typeface="Microsoft YaHei"/>
              </a:rPr>
              <a:t>PENDING REVIEW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2CF655-FF2E-415E-932C-779F299E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6193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9D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A437AA-2D37-4AA5-BAE9-A1E12F558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133600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D6B0C7-4EE2-4E66-89A8-76D96F684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105150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Walking Skeleton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12C1D0-8A94-4A69-B4F6-E33EF1E48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486150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非争议部分并行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7E14FD-FCB0-4890-808E-8E5F8611B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62450"/>
            <a:ext cx="110109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47FAB6-56A1-479F-AAE1-D900CAFC3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3371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SCOPE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EC2012-2FEB-44BB-B402-67AABE7BC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3371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39 项：32 IN / 2 OUT / 5 DEFERRED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2D5EAB-DD11-4F5B-AEB9-899BBA591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572000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83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98300"/>
                </a:solidFill>
                <a:latin typeface="Microsoft YaHei"/>
                <a:ea typeface="Microsoft YaHei"/>
                <a:cs typeface="Microsoft YaHei"/>
              </a:rPr>
              <a:t>OPEN DECISIONS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67F90C-F9B9-430F-89E4-E851B632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857750"/>
            <a:ext cx="274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6 项待逐项处置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0A7052-7805-4633-94F7-9D6DEADE1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5720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83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98300"/>
                </a:solidFill>
                <a:latin typeface="Microsoft YaHei"/>
                <a:ea typeface="Microsoft YaHei"/>
                <a:cs typeface="Microsoft YaHei"/>
              </a:rPr>
              <a:t>ACCOUNTABILITY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01A023-4FD9-4770-B249-50D2E0642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857750"/>
            <a:ext cx="323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39 项具名负责人待确认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B6FF5B-3D1C-4A83-8E8A-9D2E87F4E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101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当前状态：OPEN / PENDING REVIEW。材料完备不等于 Gate 关闭。</a:t>
            </a:r>
          </a:p>
        </p:txBody>
      </p:sp>
    </p:spTree>
    <p:extLst>
      <p:ext uri="{BB962C8B-B14F-4D97-AF65-F5344CB8AC3E}">
        <p14:creationId xmlns:p14="http://schemas.microsoft.com/office/powerpoint/2010/main" val="70548248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98C088-0199-49C8-94F1-D2606F94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DECISIONS REQUIRED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37856E-12BD-4236-AD0C-260D4EDC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本次需要领导确认四项产品边界与一个责任机制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438DB2-FED0-4C8A-8E8B-3763FEF1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2AAF7D-A877-4BCD-B024-63BC5A357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341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8B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B8B8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68FC8D-1969-4AED-ABC8-B886329A0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192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522AA4-EE5D-46CB-8098-5505E587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335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GEO Intelligence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E0F0F6-894F-4181-B55E-C47DA4FBF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7335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rPr>
              <a:t>是否进入 Commercial MVP；若进入，最小输出是什么？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C25392-725D-4765-9610-B2C37051D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14575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A25092-3E8D-4C9B-8F60-9EDC7799D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003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E56A0F-1D96-4755-919C-97C1470B3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146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Intervention / Effect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109322-275F-45AB-AC6F-F41E23CCE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51460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rPr>
              <a:t>最小可交付边界：任务建议、执行记录、复测证据到哪一层？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51A3D6-C708-4A31-8BD2-CDB7A1D5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95625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25CD92-75AD-412C-8DC2-DD905ADB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813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4C639D-9F66-4DA6-A9CA-A1F5287B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956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Publisher Worker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3F3ED8-9C6C-41F0-8280-D11F8329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956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rPr>
              <a:t>明确 DEFERRED，还是列为 MVP-2 的条件能力？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3E5F1F-FAF4-48F3-A493-2A43BB9E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76675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8D6993-A71C-4CBA-9BF9-F6A8FF646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624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B473DE-BBAE-4CEB-A340-80D24C1D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767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正式客户 KPI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448437-A926-4DD1-BAC5-3C07B8D4E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7670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rPr>
              <a:t>只有哪些 Gate 关闭后，才允许对客户输出正式口径？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4581F7-95EF-41F4-802C-7FACDEBD1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57725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036281-D1AE-4CDC-9B9E-D2F0484B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434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83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9830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9416FF-55EE-4DE4-8872-2099EAF4B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577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责任与批准机制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EB0B08-5FFB-4712-B637-269BF983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577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525"/>
                </a:solidFill>
                <a:latin typeface="Microsoft YaHei"/>
                <a:ea typeface="Microsoft YaHei"/>
                <a:cs typeface="Microsoft YaHei"/>
              </a:rPr>
              <a:t>具名 Product Owner、Gate Owner 与最终批准人如何确定？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A2899A-B6AE-4E46-BBC6-485C6254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38775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EE7A13-7703-4324-87D6-358597958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72150"/>
            <a:ext cx="11010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E5C2DC-2A7E-4668-BD6E-BEEA7EE8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67400"/>
            <a:ext cx="1062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建议结论：批准产品方向；保持 G0-01 OPEN，继续非争议工程与 Walking Skeleton；按证据关闭 Gate。</a:t>
            </a:r>
          </a:p>
        </p:txBody>
      </p:sp>
    </p:spTree>
    <p:extLst>
      <p:ext uri="{BB962C8B-B14F-4D97-AF65-F5344CB8AC3E}">
        <p14:creationId xmlns:p14="http://schemas.microsoft.com/office/powerpoint/2010/main" val="9426824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2026-08-21T06:57:38.3670000Z</dcterms:created>
  <dcterms:modified xsi:type="dcterms:W3CDTF">2026-08-21T06:57:38.3670000Z</dcterms:modified>
</coreProperties>
</file>